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ommentAuthors.xml" ContentType="application/vnd.openxmlformats-officedocument.presentationml.commentAuthors+xml"/>
  <Override PartName="/ppt/diagrams/colors1.xml" ContentType="application/vnd.openxmlformats-officedocument.drawingml.diagramColors+xml"/>
  <Override PartName="/ppt/diagrams/colors2.xml" ContentType="application/vnd.openxmlformats-officedocument.drawingml.diagramColors+xml"/>
  <Override PartName="/ppt/diagrams/data1.xml" ContentType="application/vnd.openxmlformats-officedocument.drawingml.diagramData+xml"/>
  <Override PartName="/ppt/diagrams/data2.xml" ContentType="application/vnd.openxmlformats-officedocument.drawingml.diagramData+xml"/>
  <Override PartName="/ppt/diagrams/drawing1.xml" ContentType="application/vnd.ms-office.drawingml.diagramDrawing+xml"/>
  <Override PartName="/ppt/diagrams/drawing2.xml" ContentType="application/vnd.ms-office.drawingml.diagramDrawing+xml"/>
  <Override PartName="/ppt/diagrams/layout1.xml" ContentType="application/vnd.openxmlformats-officedocument.drawingml.diagramLayout+xml"/>
  <Override PartName="/ppt/diagrams/layout2.xml" ContentType="application/vnd.openxmlformats-officedocument.drawingml.diagramLayout+xml"/>
  <Override PartName="/ppt/diagrams/quickStyle1.xml" ContentType="application/vnd.openxmlformats-officedocument.drawingml.diagramStyle+xml"/>
  <Override PartName="/ppt/diagrams/quickStyle2.xml" ContentType="application/vnd.openxmlformats-officedocument.drawingml.diagramStyl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
  </p:notesMasterIdLst>
  <p:sldIdLst>
    <p:sldId id="259" r:id="rId2"/>
    <p:sldId id="260" r:id="rId3"/>
    <p:sldId id="257" r:id="rId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dilah Rashidah binti Ashari" initials="ARbA" lastIdx="16" clrIdx="0">
    <p:extLst>
      <p:ext uri="{19B8F6BF-5375-455C-9EA6-DF929625EA0E}">
        <p15:presenceInfo xmlns:p15="http://schemas.microsoft.com/office/powerpoint/2012/main" userId="S-1-5-21-2078305814-1978884339-936525826-167071" providerId="AD"/>
      </p:ext>
    </p:extLst>
  </p:cmAuthor>
  <p:cmAuthor id="2" name="Sieh Luanne" initials="SL" lastIdx="4" clrIdx="1">
    <p:extLst>
      <p:ext uri="{19B8F6BF-5375-455C-9EA6-DF929625EA0E}">
        <p15:presenceInfo xmlns:p15="http://schemas.microsoft.com/office/powerpoint/2012/main" userId="S-1-5-21-1495823923-1230730142-1539857752-31439"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55A11"/>
    <a:srgbClr val="70AD47"/>
    <a:srgbClr val="4472C4"/>
    <a:srgbClr val="C00000"/>
    <a:srgbClr val="E7E6E6"/>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59" d="100"/>
          <a:sy n="59" d="100"/>
        </p:scale>
        <p:origin x="42" y="10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commentAuthors" Target="commentAuthors.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8B5FF9F-1732-4B48-8EB7-2C66859D8507}"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7B177B21-D167-479A-A0E7-445F580CF323}">
      <dgm:prSet/>
      <dgm:spPr>
        <a:solidFill>
          <a:srgbClr val="4472C4"/>
        </a:solidFill>
      </dgm:spPr>
      <dgm:t>
        <a:bodyPr/>
        <a:lstStyle/>
        <a:p>
          <a:r>
            <a:rPr lang="en-US" b="0" dirty="0"/>
            <a:t>3. [Material Issue]</a:t>
          </a:r>
        </a:p>
      </dgm:t>
    </dgm:pt>
    <dgm:pt modelId="{7E37482A-C9B3-4945-96CB-CA03068934BF}" type="parTrans" cxnId="{F32FC715-0E97-467E-94BD-67F3606F887E}">
      <dgm:prSet/>
      <dgm:spPr/>
      <dgm:t>
        <a:bodyPr/>
        <a:lstStyle/>
        <a:p>
          <a:endParaRPr lang="en-US"/>
        </a:p>
      </dgm:t>
    </dgm:pt>
    <dgm:pt modelId="{F3C86842-E421-4D9F-B7D0-CD6AF091936A}" type="sibTrans" cxnId="{F32FC715-0E97-467E-94BD-67F3606F887E}">
      <dgm:prSet/>
      <dgm:spPr/>
      <dgm:t>
        <a:bodyPr/>
        <a:lstStyle/>
        <a:p>
          <a:endParaRPr lang="en-US"/>
        </a:p>
      </dgm:t>
    </dgm:pt>
    <dgm:pt modelId="{4FDE0C3F-EB58-42E2-BB62-B12694EAA30C}">
      <dgm:prSet/>
      <dgm:spPr/>
      <dgm:t>
        <a:bodyPr/>
        <a:lstStyle/>
        <a:p>
          <a:r>
            <a:rPr lang="en-US" dirty="0"/>
            <a:t>[KPI shortlisted]</a:t>
          </a:r>
        </a:p>
      </dgm:t>
    </dgm:pt>
    <dgm:pt modelId="{0E4EDE17-30BD-4428-9901-9AA42E2CE0F8}" type="parTrans" cxnId="{3181A0DA-7960-4060-AC85-CC894659B6E5}">
      <dgm:prSet/>
      <dgm:spPr/>
      <dgm:t>
        <a:bodyPr/>
        <a:lstStyle/>
        <a:p>
          <a:endParaRPr lang="en-US"/>
        </a:p>
      </dgm:t>
    </dgm:pt>
    <dgm:pt modelId="{EA7932F8-04B3-4C9D-BAB0-3FDBD0020D0C}" type="sibTrans" cxnId="{3181A0DA-7960-4060-AC85-CC894659B6E5}">
      <dgm:prSet/>
      <dgm:spPr/>
      <dgm:t>
        <a:bodyPr/>
        <a:lstStyle/>
        <a:p>
          <a:endParaRPr lang="en-US"/>
        </a:p>
      </dgm:t>
    </dgm:pt>
    <dgm:pt modelId="{F16F455E-FAD4-4A24-A410-8F474FBB9B06}">
      <dgm:prSet/>
      <dgm:spPr>
        <a:solidFill>
          <a:srgbClr val="4472C4"/>
        </a:solidFill>
      </dgm:spPr>
      <dgm:t>
        <a:bodyPr/>
        <a:lstStyle/>
        <a:p>
          <a:r>
            <a:rPr lang="en-US" b="0" dirty="0"/>
            <a:t>2. [Material Issue]</a:t>
          </a:r>
        </a:p>
      </dgm:t>
    </dgm:pt>
    <dgm:pt modelId="{DAA063E9-29E7-41CD-BCD2-4CAE38DCB28E}" type="parTrans" cxnId="{B4FFA84E-169F-49E1-BDD9-C8155714E100}">
      <dgm:prSet/>
      <dgm:spPr/>
      <dgm:t>
        <a:bodyPr/>
        <a:lstStyle/>
        <a:p>
          <a:endParaRPr lang="en-US"/>
        </a:p>
      </dgm:t>
    </dgm:pt>
    <dgm:pt modelId="{D600C7CA-99E2-413A-B0CB-A02D8A52F5AA}" type="sibTrans" cxnId="{B4FFA84E-169F-49E1-BDD9-C8155714E100}">
      <dgm:prSet/>
      <dgm:spPr/>
      <dgm:t>
        <a:bodyPr/>
        <a:lstStyle/>
        <a:p>
          <a:endParaRPr lang="en-US"/>
        </a:p>
      </dgm:t>
    </dgm:pt>
    <dgm:pt modelId="{69898476-06BF-40A0-A046-A6B4977A4DD5}">
      <dgm:prSet/>
      <dgm:spPr/>
      <dgm:t>
        <a:bodyPr/>
        <a:lstStyle/>
        <a:p>
          <a:r>
            <a:rPr lang="en-US" dirty="0"/>
            <a:t>[KPI shortlisted]</a:t>
          </a:r>
        </a:p>
      </dgm:t>
    </dgm:pt>
    <dgm:pt modelId="{5E3727C6-81C0-4438-AD80-D5AAAD74DD83}" type="parTrans" cxnId="{918016EF-5364-48B9-AB00-F35807C3D838}">
      <dgm:prSet/>
      <dgm:spPr/>
      <dgm:t>
        <a:bodyPr/>
        <a:lstStyle/>
        <a:p>
          <a:endParaRPr lang="en-US"/>
        </a:p>
      </dgm:t>
    </dgm:pt>
    <dgm:pt modelId="{01FE317F-86A1-4361-BAC0-22FB8CDBE933}" type="sibTrans" cxnId="{918016EF-5364-48B9-AB00-F35807C3D838}">
      <dgm:prSet/>
      <dgm:spPr/>
      <dgm:t>
        <a:bodyPr/>
        <a:lstStyle/>
        <a:p>
          <a:endParaRPr lang="en-US"/>
        </a:p>
      </dgm:t>
    </dgm:pt>
    <dgm:pt modelId="{256D8065-B69C-474E-8A1A-34015DD47884}">
      <dgm:prSet/>
      <dgm:spPr>
        <a:solidFill>
          <a:srgbClr val="4472C4"/>
        </a:solidFill>
      </dgm:spPr>
      <dgm:t>
        <a:bodyPr/>
        <a:lstStyle/>
        <a:p>
          <a:r>
            <a:rPr lang="en-US" b="0" dirty="0"/>
            <a:t>4. [Material Issue]</a:t>
          </a:r>
          <a:endParaRPr lang="en-US" dirty="0"/>
        </a:p>
      </dgm:t>
    </dgm:pt>
    <dgm:pt modelId="{0519ABFF-65E6-45C2-B149-BF83559201F7}" type="parTrans" cxnId="{E205C719-3C09-4ADD-8EF9-2242DA91DE18}">
      <dgm:prSet/>
      <dgm:spPr/>
      <dgm:t>
        <a:bodyPr/>
        <a:lstStyle/>
        <a:p>
          <a:endParaRPr lang="en-US"/>
        </a:p>
      </dgm:t>
    </dgm:pt>
    <dgm:pt modelId="{3931B666-E4B5-4E57-B770-6EA9A2CEC9CE}" type="sibTrans" cxnId="{E205C719-3C09-4ADD-8EF9-2242DA91DE18}">
      <dgm:prSet/>
      <dgm:spPr/>
      <dgm:t>
        <a:bodyPr/>
        <a:lstStyle/>
        <a:p>
          <a:endParaRPr lang="en-US"/>
        </a:p>
      </dgm:t>
    </dgm:pt>
    <dgm:pt modelId="{8B6502A9-3591-4AF0-9B54-8A2127C60144}">
      <dgm:prSet/>
      <dgm:spPr/>
      <dgm:t>
        <a:bodyPr/>
        <a:lstStyle/>
        <a:p>
          <a:r>
            <a:rPr lang="en-US" dirty="0"/>
            <a:t>[KPI shortlisted]</a:t>
          </a:r>
        </a:p>
      </dgm:t>
    </dgm:pt>
    <dgm:pt modelId="{3D51E042-21B0-4DB9-B01E-0F13E209C5A1}" type="parTrans" cxnId="{C21BB3C5-8011-4E26-BF10-4F66208BE4B6}">
      <dgm:prSet/>
      <dgm:spPr/>
      <dgm:t>
        <a:bodyPr/>
        <a:lstStyle/>
        <a:p>
          <a:endParaRPr lang="en-US"/>
        </a:p>
      </dgm:t>
    </dgm:pt>
    <dgm:pt modelId="{E3361BCB-CE3D-421E-BEB8-F6E60C16F599}" type="sibTrans" cxnId="{C21BB3C5-8011-4E26-BF10-4F66208BE4B6}">
      <dgm:prSet/>
      <dgm:spPr/>
      <dgm:t>
        <a:bodyPr/>
        <a:lstStyle/>
        <a:p>
          <a:endParaRPr lang="en-US"/>
        </a:p>
      </dgm:t>
    </dgm:pt>
    <dgm:pt modelId="{0E45DA6B-32A5-4500-97F2-5A077AFE24C6}">
      <dgm:prSet/>
      <dgm:spPr>
        <a:solidFill>
          <a:srgbClr val="4472C4"/>
        </a:solidFill>
      </dgm:spPr>
      <dgm:t>
        <a:bodyPr/>
        <a:lstStyle/>
        <a:p>
          <a:r>
            <a:rPr lang="en-US" dirty="0"/>
            <a:t>1. [Material Issue] </a:t>
          </a:r>
        </a:p>
      </dgm:t>
    </dgm:pt>
    <dgm:pt modelId="{C4E5CB64-4BF5-432E-ACF6-F59B334B3980}" type="parTrans" cxnId="{0FB6FB7D-AA02-4C1D-8423-35A2C9E0CEB4}">
      <dgm:prSet/>
      <dgm:spPr/>
      <dgm:t>
        <a:bodyPr/>
        <a:lstStyle/>
        <a:p>
          <a:endParaRPr lang="en-US"/>
        </a:p>
      </dgm:t>
    </dgm:pt>
    <dgm:pt modelId="{62002A9A-5061-4661-8F4F-3F222EF976C8}" type="sibTrans" cxnId="{0FB6FB7D-AA02-4C1D-8423-35A2C9E0CEB4}">
      <dgm:prSet/>
      <dgm:spPr/>
      <dgm:t>
        <a:bodyPr/>
        <a:lstStyle/>
        <a:p>
          <a:endParaRPr lang="en-US"/>
        </a:p>
      </dgm:t>
    </dgm:pt>
    <dgm:pt modelId="{9D801DBD-4F0A-4BC1-93C4-C789C2388730}">
      <dgm:prSet/>
      <dgm:spPr/>
      <dgm:t>
        <a:bodyPr/>
        <a:lstStyle/>
        <a:p>
          <a:r>
            <a:rPr lang="en-US" dirty="0"/>
            <a:t>[KPI shortlisted]</a:t>
          </a:r>
        </a:p>
      </dgm:t>
    </dgm:pt>
    <dgm:pt modelId="{F40E814E-8317-4F63-8370-1D003C559116}" type="parTrans" cxnId="{7BD43349-B1A8-422E-9ACF-E52E2807D23F}">
      <dgm:prSet/>
      <dgm:spPr/>
      <dgm:t>
        <a:bodyPr/>
        <a:lstStyle/>
        <a:p>
          <a:endParaRPr lang="en-US"/>
        </a:p>
      </dgm:t>
    </dgm:pt>
    <dgm:pt modelId="{571070F3-A988-4EDC-BC9F-DD589FA9BFCC}" type="sibTrans" cxnId="{7BD43349-B1A8-422E-9ACF-E52E2807D23F}">
      <dgm:prSet/>
      <dgm:spPr/>
      <dgm:t>
        <a:bodyPr/>
        <a:lstStyle/>
        <a:p>
          <a:endParaRPr lang="en-US"/>
        </a:p>
      </dgm:t>
    </dgm:pt>
    <dgm:pt modelId="{2966A945-29B6-462D-962E-317F0C034270}">
      <dgm:prSet/>
      <dgm:spPr>
        <a:solidFill>
          <a:srgbClr val="4472C4"/>
        </a:solidFill>
      </dgm:spPr>
      <dgm:t>
        <a:bodyPr/>
        <a:lstStyle/>
        <a:p>
          <a:r>
            <a:rPr lang="en-US" b="0" dirty="0"/>
            <a:t>5. [Material Issue]</a:t>
          </a:r>
          <a:endParaRPr lang="en-US" b="1" dirty="0"/>
        </a:p>
      </dgm:t>
    </dgm:pt>
    <dgm:pt modelId="{B005A1FA-8881-484E-84D7-9E36BA1AF2CB}" type="parTrans" cxnId="{1071115D-F9D9-4896-B887-90824071445B}">
      <dgm:prSet/>
      <dgm:spPr/>
      <dgm:t>
        <a:bodyPr/>
        <a:lstStyle/>
        <a:p>
          <a:endParaRPr lang="en-US"/>
        </a:p>
      </dgm:t>
    </dgm:pt>
    <dgm:pt modelId="{84B0F2B1-436A-4F5A-B848-656C54513CC2}" type="sibTrans" cxnId="{1071115D-F9D9-4896-B887-90824071445B}">
      <dgm:prSet/>
      <dgm:spPr/>
      <dgm:t>
        <a:bodyPr/>
        <a:lstStyle/>
        <a:p>
          <a:endParaRPr lang="en-US"/>
        </a:p>
      </dgm:t>
    </dgm:pt>
    <dgm:pt modelId="{F48E066E-A82D-42A5-87B8-A64241C6CB33}">
      <dgm:prSet/>
      <dgm:spPr/>
      <dgm:t>
        <a:bodyPr/>
        <a:lstStyle/>
        <a:p>
          <a:r>
            <a:rPr lang="en-US" dirty="0"/>
            <a:t>[KPI shortlisted]</a:t>
          </a:r>
        </a:p>
      </dgm:t>
    </dgm:pt>
    <dgm:pt modelId="{20ED5E97-F482-465E-BC83-E33E81AA7469}" type="parTrans" cxnId="{96B2EFAA-848C-4A6D-A513-5345BC87693F}">
      <dgm:prSet/>
      <dgm:spPr/>
      <dgm:t>
        <a:bodyPr/>
        <a:lstStyle/>
        <a:p>
          <a:endParaRPr lang="en-US"/>
        </a:p>
      </dgm:t>
    </dgm:pt>
    <dgm:pt modelId="{A8F54862-E816-4DA2-9062-F15495FEA0DF}" type="sibTrans" cxnId="{96B2EFAA-848C-4A6D-A513-5345BC87693F}">
      <dgm:prSet/>
      <dgm:spPr/>
      <dgm:t>
        <a:bodyPr/>
        <a:lstStyle/>
        <a:p>
          <a:endParaRPr lang="en-US"/>
        </a:p>
      </dgm:t>
    </dgm:pt>
    <dgm:pt modelId="{C4366E39-5EC2-4DCE-88A0-7BA907ED47EF}">
      <dgm:prSet/>
      <dgm:spPr/>
      <dgm:t>
        <a:bodyPr/>
        <a:lstStyle/>
        <a:p>
          <a:r>
            <a:rPr lang="en-US" dirty="0"/>
            <a:t>Justification: </a:t>
          </a:r>
        </a:p>
      </dgm:t>
    </dgm:pt>
    <dgm:pt modelId="{E9FCCEFB-0C8F-4380-A673-A5281732DD43}" type="parTrans" cxnId="{97A93987-A610-4E7E-816C-DF8803986D7A}">
      <dgm:prSet/>
      <dgm:spPr/>
      <dgm:t>
        <a:bodyPr/>
        <a:lstStyle/>
        <a:p>
          <a:endParaRPr lang="en-US"/>
        </a:p>
      </dgm:t>
    </dgm:pt>
    <dgm:pt modelId="{61CD18D3-6256-4A82-94BE-77AC2DDA0581}" type="sibTrans" cxnId="{97A93987-A610-4E7E-816C-DF8803986D7A}">
      <dgm:prSet/>
      <dgm:spPr/>
      <dgm:t>
        <a:bodyPr/>
        <a:lstStyle/>
        <a:p>
          <a:endParaRPr lang="en-US"/>
        </a:p>
      </dgm:t>
    </dgm:pt>
    <dgm:pt modelId="{0BBC603B-7BCB-4C99-BC8D-B0B30690E121}">
      <dgm:prSet/>
      <dgm:spPr/>
      <dgm:t>
        <a:bodyPr/>
        <a:lstStyle/>
        <a:p>
          <a:r>
            <a:rPr lang="en-US" dirty="0"/>
            <a:t>Justification: </a:t>
          </a:r>
        </a:p>
      </dgm:t>
    </dgm:pt>
    <dgm:pt modelId="{D7281805-2765-48CC-A508-DFE3DEC50A5B}" type="parTrans" cxnId="{C31E17EA-D414-443F-82E8-2A8EE0A16A39}">
      <dgm:prSet/>
      <dgm:spPr/>
      <dgm:t>
        <a:bodyPr/>
        <a:lstStyle/>
        <a:p>
          <a:endParaRPr lang="en-US"/>
        </a:p>
      </dgm:t>
    </dgm:pt>
    <dgm:pt modelId="{0624498D-1CD8-4019-A25C-3273B53F9571}" type="sibTrans" cxnId="{C31E17EA-D414-443F-82E8-2A8EE0A16A39}">
      <dgm:prSet/>
      <dgm:spPr/>
      <dgm:t>
        <a:bodyPr/>
        <a:lstStyle/>
        <a:p>
          <a:endParaRPr lang="en-US"/>
        </a:p>
      </dgm:t>
    </dgm:pt>
    <dgm:pt modelId="{ADAA1468-0470-41FC-BF4A-7D9FA68AC007}">
      <dgm:prSet/>
      <dgm:spPr/>
      <dgm:t>
        <a:bodyPr/>
        <a:lstStyle/>
        <a:p>
          <a:r>
            <a:rPr lang="en-US" dirty="0"/>
            <a:t>Justification:</a:t>
          </a:r>
        </a:p>
      </dgm:t>
    </dgm:pt>
    <dgm:pt modelId="{6D59EA09-B72E-44D6-B0F9-7D699156C605}" type="parTrans" cxnId="{07EDE301-0625-46F0-B543-743B9FD4E69A}">
      <dgm:prSet/>
      <dgm:spPr/>
      <dgm:t>
        <a:bodyPr/>
        <a:lstStyle/>
        <a:p>
          <a:endParaRPr lang="en-US"/>
        </a:p>
      </dgm:t>
    </dgm:pt>
    <dgm:pt modelId="{139023B4-23D4-4359-9131-3BED9A6A258F}" type="sibTrans" cxnId="{07EDE301-0625-46F0-B543-743B9FD4E69A}">
      <dgm:prSet/>
      <dgm:spPr/>
      <dgm:t>
        <a:bodyPr/>
        <a:lstStyle/>
        <a:p>
          <a:endParaRPr lang="en-US"/>
        </a:p>
      </dgm:t>
    </dgm:pt>
    <dgm:pt modelId="{CC0546EB-9246-44EE-9B45-2BFC689DD947}">
      <dgm:prSet/>
      <dgm:spPr/>
      <dgm:t>
        <a:bodyPr/>
        <a:lstStyle/>
        <a:p>
          <a:r>
            <a:rPr lang="en-US"/>
            <a:t>Justification:</a:t>
          </a:r>
          <a:endParaRPr lang="en-US" dirty="0"/>
        </a:p>
      </dgm:t>
    </dgm:pt>
    <dgm:pt modelId="{DA75EC46-5492-4271-855D-49C505C74648}" type="parTrans" cxnId="{8FD50D6A-8D07-4016-88F0-C3C469F8156B}">
      <dgm:prSet/>
      <dgm:spPr/>
      <dgm:t>
        <a:bodyPr/>
        <a:lstStyle/>
        <a:p>
          <a:endParaRPr lang="en-US"/>
        </a:p>
      </dgm:t>
    </dgm:pt>
    <dgm:pt modelId="{48854213-6A4B-4EBA-A746-2342AD23A474}" type="sibTrans" cxnId="{8FD50D6A-8D07-4016-88F0-C3C469F8156B}">
      <dgm:prSet/>
      <dgm:spPr/>
      <dgm:t>
        <a:bodyPr/>
        <a:lstStyle/>
        <a:p>
          <a:endParaRPr lang="en-US"/>
        </a:p>
      </dgm:t>
    </dgm:pt>
    <dgm:pt modelId="{47912BD4-5BEB-4188-AE82-6A111D7D53A2}">
      <dgm:prSet/>
      <dgm:spPr/>
      <dgm:t>
        <a:bodyPr/>
        <a:lstStyle/>
        <a:p>
          <a:r>
            <a:rPr lang="en-US" dirty="0"/>
            <a:t>Justification:</a:t>
          </a:r>
        </a:p>
      </dgm:t>
    </dgm:pt>
    <dgm:pt modelId="{EB919B9A-1BCB-4D43-97F8-0C188A57E769}" type="parTrans" cxnId="{5CC5E6A0-4B0C-41A4-817D-AB7DB1B02DAC}">
      <dgm:prSet/>
      <dgm:spPr/>
      <dgm:t>
        <a:bodyPr/>
        <a:lstStyle/>
        <a:p>
          <a:endParaRPr lang="en-US"/>
        </a:p>
      </dgm:t>
    </dgm:pt>
    <dgm:pt modelId="{5149199B-5A74-4E4C-B222-5ED21D159179}" type="sibTrans" cxnId="{5CC5E6A0-4B0C-41A4-817D-AB7DB1B02DAC}">
      <dgm:prSet/>
      <dgm:spPr/>
      <dgm:t>
        <a:bodyPr/>
        <a:lstStyle/>
        <a:p>
          <a:endParaRPr lang="en-US"/>
        </a:p>
      </dgm:t>
    </dgm:pt>
    <dgm:pt modelId="{F51A27AA-458C-44AF-ADF3-FC23596FAC65}" type="pres">
      <dgm:prSet presAssocID="{D8B5FF9F-1732-4B48-8EB7-2C66859D8507}" presName="linear" presStyleCnt="0">
        <dgm:presLayoutVars>
          <dgm:animLvl val="lvl"/>
          <dgm:resizeHandles val="exact"/>
        </dgm:presLayoutVars>
      </dgm:prSet>
      <dgm:spPr/>
    </dgm:pt>
    <dgm:pt modelId="{F864B38D-1B52-4EA5-BB1B-3A26F97A2357}" type="pres">
      <dgm:prSet presAssocID="{0E45DA6B-32A5-4500-97F2-5A077AFE24C6}" presName="parentText" presStyleLbl="node1" presStyleIdx="0" presStyleCnt="5">
        <dgm:presLayoutVars>
          <dgm:chMax val="0"/>
          <dgm:bulletEnabled val="1"/>
        </dgm:presLayoutVars>
      </dgm:prSet>
      <dgm:spPr/>
    </dgm:pt>
    <dgm:pt modelId="{1D35749D-8D19-4542-81B3-E92494CA362B}" type="pres">
      <dgm:prSet presAssocID="{0E45DA6B-32A5-4500-97F2-5A077AFE24C6}" presName="childText" presStyleLbl="revTx" presStyleIdx="0" presStyleCnt="5">
        <dgm:presLayoutVars>
          <dgm:bulletEnabled val="1"/>
        </dgm:presLayoutVars>
      </dgm:prSet>
      <dgm:spPr/>
    </dgm:pt>
    <dgm:pt modelId="{D08B0598-D260-4F26-B231-ABD3154603DF}" type="pres">
      <dgm:prSet presAssocID="{F16F455E-FAD4-4A24-A410-8F474FBB9B06}" presName="parentText" presStyleLbl="node1" presStyleIdx="1" presStyleCnt="5">
        <dgm:presLayoutVars>
          <dgm:chMax val="0"/>
          <dgm:bulletEnabled val="1"/>
        </dgm:presLayoutVars>
      </dgm:prSet>
      <dgm:spPr/>
    </dgm:pt>
    <dgm:pt modelId="{0CF4E425-3530-400E-A9EB-9134848CF9F1}" type="pres">
      <dgm:prSet presAssocID="{F16F455E-FAD4-4A24-A410-8F474FBB9B06}" presName="childText" presStyleLbl="revTx" presStyleIdx="1" presStyleCnt="5">
        <dgm:presLayoutVars>
          <dgm:bulletEnabled val="1"/>
        </dgm:presLayoutVars>
      </dgm:prSet>
      <dgm:spPr/>
    </dgm:pt>
    <dgm:pt modelId="{F5F96AD2-297B-427C-91E5-51655A47E94E}" type="pres">
      <dgm:prSet presAssocID="{7B177B21-D167-479A-A0E7-445F580CF323}" presName="parentText" presStyleLbl="node1" presStyleIdx="2" presStyleCnt="5">
        <dgm:presLayoutVars>
          <dgm:chMax val="0"/>
          <dgm:bulletEnabled val="1"/>
        </dgm:presLayoutVars>
      </dgm:prSet>
      <dgm:spPr/>
    </dgm:pt>
    <dgm:pt modelId="{B2A0BD68-6214-4E83-AA7B-0DE185DED354}" type="pres">
      <dgm:prSet presAssocID="{7B177B21-D167-479A-A0E7-445F580CF323}" presName="childText" presStyleLbl="revTx" presStyleIdx="2" presStyleCnt="5">
        <dgm:presLayoutVars>
          <dgm:bulletEnabled val="1"/>
        </dgm:presLayoutVars>
      </dgm:prSet>
      <dgm:spPr/>
    </dgm:pt>
    <dgm:pt modelId="{1CA3D874-6F9D-4F37-AF5D-A2D150B20FC0}" type="pres">
      <dgm:prSet presAssocID="{256D8065-B69C-474E-8A1A-34015DD47884}" presName="parentText" presStyleLbl="node1" presStyleIdx="3" presStyleCnt="5">
        <dgm:presLayoutVars>
          <dgm:chMax val="0"/>
          <dgm:bulletEnabled val="1"/>
        </dgm:presLayoutVars>
      </dgm:prSet>
      <dgm:spPr/>
    </dgm:pt>
    <dgm:pt modelId="{21AE1764-0777-4817-B6E2-A5621FD28AE4}" type="pres">
      <dgm:prSet presAssocID="{256D8065-B69C-474E-8A1A-34015DD47884}" presName="childText" presStyleLbl="revTx" presStyleIdx="3" presStyleCnt="5">
        <dgm:presLayoutVars>
          <dgm:bulletEnabled val="1"/>
        </dgm:presLayoutVars>
      </dgm:prSet>
      <dgm:spPr/>
    </dgm:pt>
    <dgm:pt modelId="{6F2F6A95-5DD2-4DA4-BFF3-37BAD1FF2545}" type="pres">
      <dgm:prSet presAssocID="{2966A945-29B6-462D-962E-317F0C034270}" presName="parentText" presStyleLbl="node1" presStyleIdx="4" presStyleCnt="5">
        <dgm:presLayoutVars>
          <dgm:chMax val="0"/>
          <dgm:bulletEnabled val="1"/>
        </dgm:presLayoutVars>
      </dgm:prSet>
      <dgm:spPr/>
    </dgm:pt>
    <dgm:pt modelId="{763069E7-1B90-4919-8690-E36AC40BD6FB}" type="pres">
      <dgm:prSet presAssocID="{2966A945-29B6-462D-962E-317F0C034270}" presName="childText" presStyleLbl="revTx" presStyleIdx="4" presStyleCnt="5">
        <dgm:presLayoutVars>
          <dgm:bulletEnabled val="1"/>
        </dgm:presLayoutVars>
      </dgm:prSet>
      <dgm:spPr/>
    </dgm:pt>
  </dgm:ptLst>
  <dgm:cxnLst>
    <dgm:cxn modelId="{26B93200-4745-421F-9B40-1F9D78A7DF09}" type="presOf" srcId="{47912BD4-5BEB-4188-AE82-6A111D7D53A2}" destId="{763069E7-1B90-4919-8690-E36AC40BD6FB}" srcOrd="0" destOrd="1" presId="urn:microsoft.com/office/officeart/2005/8/layout/vList2"/>
    <dgm:cxn modelId="{07EDE301-0625-46F0-B543-743B9FD4E69A}" srcId="{7B177B21-D167-479A-A0E7-445F580CF323}" destId="{ADAA1468-0470-41FC-BF4A-7D9FA68AC007}" srcOrd="1" destOrd="0" parTransId="{6D59EA09-B72E-44D6-B0F9-7D699156C605}" sibTransId="{139023B4-23D4-4359-9131-3BED9A6A258F}"/>
    <dgm:cxn modelId="{F32FC715-0E97-467E-94BD-67F3606F887E}" srcId="{D8B5FF9F-1732-4B48-8EB7-2C66859D8507}" destId="{7B177B21-D167-479A-A0E7-445F580CF323}" srcOrd="2" destOrd="0" parTransId="{7E37482A-C9B3-4945-96CB-CA03068934BF}" sibTransId="{F3C86842-E421-4D9F-B7D0-CD6AF091936A}"/>
    <dgm:cxn modelId="{82C97B19-A66C-4686-AB3A-6D5A747828E5}" type="presOf" srcId="{69898476-06BF-40A0-A046-A6B4977A4DD5}" destId="{0CF4E425-3530-400E-A9EB-9134848CF9F1}" srcOrd="0" destOrd="0" presId="urn:microsoft.com/office/officeart/2005/8/layout/vList2"/>
    <dgm:cxn modelId="{E205C719-3C09-4ADD-8EF9-2242DA91DE18}" srcId="{D8B5FF9F-1732-4B48-8EB7-2C66859D8507}" destId="{256D8065-B69C-474E-8A1A-34015DD47884}" srcOrd="3" destOrd="0" parTransId="{0519ABFF-65E6-45C2-B149-BF83559201F7}" sibTransId="{3931B666-E4B5-4E57-B770-6EA9A2CEC9CE}"/>
    <dgm:cxn modelId="{42003B23-3EFB-4664-8DB3-25B366AE0AB5}" type="presOf" srcId="{F16F455E-FAD4-4A24-A410-8F474FBB9B06}" destId="{D08B0598-D260-4F26-B231-ABD3154603DF}" srcOrd="0" destOrd="0" presId="urn:microsoft.com/office/officeart/2005/8/layout/vList2"/>
    <dgm:cxn modelId="{31887431-BCC9-4EBC-B40B-ABE65DF7BB0A}" type="presOf" srcId="{CC0546EB-9246-44EE-9B45-2BFC689DD947}" destId="{21AE1764-0777-4817-B6E2-A5621FD28AE4}" srcOrd="0" destOrd="1" presId="urn:microsoft.com/office/officeart/2005/8/layout/vList2"/>
    <dgm:cxn modelId="{50408139-4304-4A76-8F72-8C695F1CAC2A}" type="presOf" srcId="{4FDE0C3F-EB58-42E2-BB62-B12694EAA30C}" destId="{B2A0BD68-6214-4E83-AA7B-0DE185DED354}" srcOrd="0" destOrd="0" presId="urn:microsoft.com/office/officeart/2005/8/layout/vList2"/>
    <dgm:cxn modelId="{1071115D-F9D9-4896-B887-90824071445B}" srcId="{D8B5FF9F-1732-4B48-8EB7-2C66859D8507}" destId="{2966A945-29B6-462D-962E-317F0C034270}" srcOrd="4" destOrd="0" parTransId="{B005A1FA-8881-484E-84D7-9E36BA1AF2CB}" sibTransId="{84B0F2B1-436A-4F5A-B848-656C54513CC2}"/>
    <dgm:cxn modelId="{AF4D1245-952F-48EB-9707-3F54B4DC5EDE}" type="presOf" srcId="{256D8065-B69C-474E-8A1A-34015DD47884}" destId="{1CA3D874-6F9D-4F37-AF5D-A2D150B20FC0}" srcOrd="0" destOrd="0" presId="urn:microsoft.com/office/officeart/2005/8/layout/vList2"/>
    <dgm:cxn modelId="{69073865-2A9B-4CF5-B3E1-99A87994DBE1}" type="presOf" srcId="{8B6502A9-3591-4AF0-9B54-8A2127C60144}" destId="{21AE1764-0777-4817-B6E2-A5621FD28AE4}" srcOrd="0" destOrd="0" presId="urn:microsoft.com/office/officeart/2005/8/layout/vList2"/>
    <dgm:cxn modelId="{7BD43349-B1A8-422E-9ACF-E52E2807D23F}" srcId="{0E45DA6B-32A5-4500-97F2-5A077AFE24C6}" destId="{9D801DBD-4F0A-4BC1-93C4-C789C2388730}" srcOrd="0" destOrd="0" parTransId="{F40E814E-8317-4F63-8370-1D003C559116}" sibTransId="{571070F3-A988-4EDC-BC9F-DD589FA9BFCC}"/>
    <dgm:cxn modelId="{8FD50D6A-8D07-4016-88F0-C3C469F8156B}" srcId="{256D8065-B69C-474E-8A1A-34015DD47884}" destId="{CC0546EB-9246-44EE-9B45-2BFC689DD947}" srcOrd="1" destOrd="0" parTransId="{DA75EC46-5492-4271-855D-49C505C74648}" sibTransId="{48854213-6A4B-4EBA-A746-2342AD23A474}"/>
    <dgm:cxn modelId="{B4FFA84E-169F-49E1-BDD9-C8155714E100}" srcId="{D8B5FF9F-1732-4B48-8EB7-2C66859D8507}" destId="{F16F455E-FAD4-4A24-A410-8F474FBB9B06}" srcOrd="1" destOrd="0" parTransId="{DAA063E9-29E7-41CD-BCD2-4CAE38DCB28E}" sibTransId="{D600C7CA-99E2-413A-B0CB-A02D8A52F5AA}"/>
    <dgm:cxn modelId="{F0228471-46E9-4BD9-9ED7-6939F19C107E}" type="presOf" srcId="{D8B5FF9F-1732-4B48-8EB7-2C66859D8507}" destId="{F51A27AA-458C-44AF-ADF3-FC23596FAC65}" srcOrd="0" destOrd="0" presId="urn:microsoft.com/office/officeart/2005/8/layout/vList2"/>
    <dgm:cxn modelId="{0DDC4177-1100-4D34-A2CA-31BCEA8FC17A}" type="presOf" srcId="{7B177B21-D167-479A-A0E7-445F580CF323}" destId="{F5F96AD2-297B-427C-91E5-51655A47E94E}" srcOrd="0" destOrd="0" presId="urn:microsoft.com/office/officeart/2005/8/layout/vList2"/>
    <dgm:cxn modelId="{0FB6FB7D-AA02-4C1D-8423-35A2C9E0CEB4}" srcId="{D8B5FF9F-1732-4B48-8EB7-2C66859D8507}" destId="{0E45DA6B-32A5-4500-97F2-5A077AFE24C6}" srcOrd="0" destOrd="0" parTransId="{C4E5CB64-4BF5-432E-ACF6-F59B334B3980}" sibTransId="{62002A9A-5061-4661-8F4F-3F222EF976C8}"/>
    <dgm:cxn modelId="{97A93987-A610-4E7E-816C-DF8803986D7A}" srcId="{0E45DA6B-32A5-4500-97F2-5A077AFE24C6}" destId="{C4366E39-5EC2-4DCE-88A0-7BA907ED47EF}" srcOrd="1" destOrd="0" parTransId="{E9FCCEFB-0C8F-4380-A673-A5281732DD43}" sibTransId="{61CD18D3-6256-4A82-94BE-77AC2DDA0581}"/>
    <dgm:cxn modelId="{AC3C969C-1B03-4C92-992C-4396462B042F}" type="presOf" srcId="{0BBC603B-7BCB-4C99-BC8D-B0B30690E121}" destId="{0CF4E425-3530-400E-A9EB-9134848CF9F1}" srcOrd="0" destOrd="1" presId="urn:microsoft.com/office/officeart/2005/8/layout/vList2"/>
    <dgm:cxn modelId="{CF08229D-D05C-48D0-B39F-1BD1AAF45840}" type="presOf" srcId="{0E45DA6B-32A5-4500-97F2-5A077AFE24C6}" destId="{F864B38D-1B52-4EA5-BB1B-3A26F97A2357}" srcOrd="0" destOrd="0" presId="urn:microsoft.com/office/officeart/2005/8/layout/vList2"/>
    <dgm:cxn modelId="{5CC5E6A0-4B0C-41A4-817D-AB7DB1B02DAC}" srcId="{2966A945-29B6-462D-962E-317F0C034270}" destId="{47912BD4-5BEB-4188-AE82-6A111D7D53A2}" srcOrd="1" destOrd="0" parTransId="{EB919B9A-1BCB-4D43-97F8-0C188A57E769}" sibTransId="{5149199B-5A74-4E4C-B222-5ED21D159179}"/>
    <dgm:cxn modelId="{96B2EFAA-848C-4A6D-A513-5345BC87693F}" srcId="{2966A945-29B6-462D-962E-317F0C034270}" destId="{F48E066E-A82D-42A5-87B8-A64241C6CB33}" srcOrd="0" destOrd="0" parTransId="{20ED5E97-F482-465E-BC83-E33E81AA7469}" sibTransId="{A8F54862-E816-4DA2-9062-F15495FEA0DF}"/>
    <dgm:cxn modelId="{D168B7B0-1AA2-4B07-B526-E1025CEDD479}" type="presOf" srcId="{2966A945-29B6-462D-962E-317F0C034270}" destId="{6F2F6A95-5DD2-4DA4-BFF3-37BAD1FF2545}" srcOrd="0" destOrd="0" presId="urn:microsoft.com/office/officeart/2005/8/layout/vList2"/>
    <dgm:cxn modelId="{18D1A4BA-136A-42E0-A2A4-C96361C0FFFD}" type="presOf" srcId="{F48E066E-A82D-42A5-87B8-A64241C6CB33}" destId="{763069E7-1B90-4919-8690-E36AC40BD6FB}" srcOrd="0" destOrd="0" presId="urn:microsoft.com/office/officeart/2005/8/layout/vList2"/>
    <dgm:cxn modelId="{C21BB3C5-8011-4E26-BF10-4F66208BE4B6}" srcId="{256D8065-B69C-474E-8A1A-34015DD47884}" destId="{8B6502A9-3591-4AF0-9B54-8A2127C60144}" srcOrd="0" destOrd="0" parTransId="{3D51E042-21B0-4DB9-B01E-0F13E209C5A1}" sibTransId="{E3361BCB-CE3D-421E-BEB8-F6E60C16F599}"/>
    <dgm:cxn modelId="{2F2CEDCA-E8F3-4A72-AB9E-2ED4A18695E2}" type="presOf" srcId="{C4366E39-5EC2-4DCE-88A0-7BA907ED47EF}" destId="{1D35749D-8D19-4542-81B3-E92494CA362B}" srcOrd="0" destOrd="1" presId="urn:microsoft.com/office/officeart/2005/8/layout/vList2"/>
    <dgm:cxn modelId="{3181A0DA-7960-4060-AC85-CC894659B6E5}" srcId="{7B177B21-D167-479A-A0E7-445F580CF323}" destId="{4FDE0C3F-EB58-42E2-BB62-B12694EAA30C}" srcOrd="0" destOrd="0" parTransId="{0E4EDE17-30BD-4428-9901-9AA42E2CE0F8}" sibTransId="{EA7932F8-04B3-4C9D-BAB0-3FDBD0020D0C}"/>
    <dgm:cxn modelId="{74CA2BDD-4E58-4251-A3A6-6B1D415F1905}" type="presOf" srcId="{ADAA1468-0470-41FC-BF4A-7D9FA68AC007}" destId="{B2A0BD68-6214-4E83-AA7B-0DE185DED354}" srcOrd="0" destOrd="1" presId="urn:microsoft.com/office/officeart/2005/8/layout/vList2"/>
    <dgm:cxn modelId="{C31E17EA-D414-443F-82E8-2A8EE0A16A39}" srcId="{F16F455E-FAD4-4A24-A410-8F474FBB9B06}" destId="{0BBC603B-7BCB-4C99-BC8D-B0B30690E121}" srcOrd="1" destOrd="0" parTransId="{D7281805-2765-48CC-A508-DFE3DEC50A5B}" sibTransId="{0624498D-1CD8-4019-A25C-3273B53F9571}"/>
    <dgm:cxn modelId="{918016EF-5364-48B9-AB00-F35807C3D838}" srcId="{F16F455E-FAD4-4A24-A410-8F474FBB9B06}" destId="{69898476-06BF-40A0-A046-A6B4977A4DD5}" srcOrd="0" destOrd="0" parTransId="{5E3727C6-81C0-4438-AD80-D5AAAD74DD83}" sibTransId="{01FE317F-86A1-4361-BAC0-22FB8CDBE933}"/>
    <dgm:cxn modelId="{7FCB51F4-238E-4ABA-8034-BC12A0009637}" type="presOf" srcId="{9D801DBD-4F0A-4BC1-93C4-C789C2388730}" destId="{1D35749D-8D19-4542-81B3-E92494CA362B}" srcOrd="0" destOrd="0" presId="urn:microsoft.com/office/officeart/2005/8/layout/vList2"/>
    <dgm:cxn modelId="{63B9C354-F3DA-4554-81E0-2CAEB31A8911}" type="presParOf" srcId="{F51A27AA-458C-44AF-ADF3-FC23596FAC65}" destId="{F864B38D-1B52-4EA5-BB1B-3A26F97A2357}" srcOrd="0" destOrd="0" presId="urn:microsoft.com/office/officeart/2005/8/layout/vList2"/>
    <dgm:cxn modelId="{FCDD9A9D-A39F-470D-8442-E278F2040651}" type="presParOf" srcId="{F51A27AA-458C-44AF-ADF3-FC23596FAC65}" destId="{1D35749D-8D19-4542-81B3-E92494CA362B}" srcOrd="1" destOrd="0" presId="urn:microsoft.com/office/officeart/2005/8/layout/vList2"/>
    <dgm:cxn modelId="{A8E806B6-58F8-474F-970A-824F25DFAA33}" type="presParOf" srcId="{F51A27AA-458C-44AF-ADF3-FC23596FAC65}" destId="{D08B0598-D260-4F26-B231-ABD3154603DF}" srcOrd="2" destOrd="0" presId="urn:microsoft.com/office/officeart/2005/8/layout/vList2"/>
    <dgm:cxn modelId="{D1F01C2C-ED39-4DCF-9606-1C8E4446E01C}" type="presParOf" srcId="{F51A27AA-458C-44AF-ADF3-FC23596FAC65}" destId="{0CF4E425-3530-400E-A9EB-9134848CF9F1}" srcOrd="3" destOrd="0" presId="urn:microsoft.com/office/officeart/2005/8/layout/vList2"/>
    <dgm:cxn modelId="{3EA8F8D4-85EB-4BE4-8693-869A108DD193}" type="presParOf" srcId="{F51A27AA-458C-44AF-ADF3-FC23596FAC65}" destId="{F5F96AD2-297B-427C-91E5-51655A47E94E}" srcOrd="4" destOrd="0" presId="urn:microsoft.com/office/officeart/2005/8/layout/vList2"/>
    <dgm:cxn modelId="{EA71A52A-AE96-43C0-B158-C93616A50775}" type="presParOf" srcId="{F51A27AA-458C-44AF-ADF3-FC23596FAC65}" destId="{B2A0BD68-6214-4E83-AA7B-0DE185DED354}" srcOrd="5" destOrd="0" presId="urn:microsoft.com/office/officeart/2005/8/layout/vList2"/>
    <dgm:cxn modelId="{73742A59-0F3C-46C4-AC45-9EE28299FDF4}" type="presParOf" srcId="{F51A27AA-458C-44AF-ADF3-FC23596FAC65}" destId="{1CA3D874-6F9D-4F37-AF5D-A2D150B20FC0}" srcOrd="6" destOrd="0" presId="urn:microsoft.com/office/officeart/2005/8/layout/vList2"/>
    <dgm:cxn modelId="{A05453BC-04DA-409F-BCBA-2AF32959F113}" type="presParOf" srcId="{F51A27AA-458C-44AF-ADF3-FC23596FAC65}" destId="{21AE1764-0777-4817-B6E2-A5621FD28AE4}" srcOrd="7" destOrd="0" presId="urn:microsoft.com/office/officeart/2005/8/layout/vList2"/>
    <dgm:cxn modelId="{73FA5F9D-7B29-4A9E-9B9E-D4BB320DE734}" type="presParOf" srcId="{F51A27AA-458C-44AF-ADF3-FC23596FAC65}" destId="{6F2F6A95-5DD2-4DA4-BFF3-37BAD1FF2545}" srcOrd="8" destOrd="0" presId="urn:microsoft.com/office/officeart/2005/8/layout/vList2"/>
    <dgm:cxn modelId="{B6E6F2FE-2232-4AED-B0DB-0B5E1233A1BE}" type="presParOf" srcId="{F51A27AA-458C-44AF-ADF3-FC23596FAC65}" destId="{763069E7-1B90-4919-8690-E36AC40BD6FB}" srcOrd="9"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0E79107-6C4E-4C53-82F2-7EB2913C427A}"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3E6298A9-FCD9-4AF2-A1D1-017A1ABA1E8D}">
      <dgm:prSet custT="1"/>
      <dgm:spPr>
        <a:solidFill>
          <a:schemeClr val="bg1"/>
        </a:solidFill>
      </dgm:spPr>
      <dgm:t>
        <a:bodyPr/>
        <a:lstStyle/>
        <a:p>
          <a:r>
            <a:rPr lang="en-US" sz="1600" b="1" i="0" baseline="0" dirty="0">
              <a:solidFill>
                <a:schemeClr val="tx1"/>
              </a:solidFill>
            </a:rPr>
            <a:t>1. Materiality</a:t>
          </a:r>
          <a:endParaRPr lang="en-US" sz="1600" dirty="0">
            <a:solidFill>
              <a:schemeClr val="tx1"/>
            </a:solidFill>
          </a:endParaRPr>
        </a:p>
      </dgm:t>
    </dgm:pt>
    <dgm:pt modelId="{E4A64DCA-50D2-49FA-98D1-24FFBFAA09E0}" type="sibTrans" cxnId="{F33F180A-9794-48BC-91BA-036DA958F111}">
      <dgm:prSet/>
      <dgm:spPr/>
      <dgm:t>
        <a:bodyPr/>
        <a:lstStyle/>
        <a:p>
          <a:endParaRPr lang="en-US" sz="4000"/>
        </a:p>
      </dgm:t>
    </dgm:pt>
    <dgm:pt modelId="{A94A908E-2795-4885-94DD-E25339973420}" type="parTrans" cxnId="{F33F180A-9794-48BC-91BA-036DA958F111}">
      <dgm:prSet/>
      <dgm:spPr/>
      <dgm:t>
        <a:bodyPr/>
        <a:lstStyle/>
        <a:p>
          <a:endParaRPr lang="en-US" sz="4000"/>
        </a:p>
      </dgm:t>
    </dgm:pt>
    <dgm:pt modelId="{933C1C79-4FFF-44FA-BC65-67F3C92B2762}">
      <dgm:prSet custT="1"/>
      <dgm:spPr>
        <a:solidFill>
          <a:schemeClr val="bg1"/>
        </a:solidFill>
      </dgm:spPr>
      <dgm:t>
        <a:bodyPr/>
        <a:lstStyle/>
        <a:p>
          <a:r>
            <a:rPr lang="en-US" sz="1600" b="1" dirty="0">
              <a:solidFill>
                <a:schemeClr val="tx1"/>
              </a:solidFill>
            </a:rPr>
            <a:t>2. </a:t>
          </a:r>
          <a:r>
            <a:rPr lang="en-US" sz="1600" b="1" dirty="0" err="1">
              <a:solidFill>
                <a:schemeClr val="tx1"/>
              </a:solidFill>
            </a:rPr>
            <a:t>Additionality</a:t>
          </a:r>
          <a:endParaRPr lang="en-US" sz="1600" b="1" dirty="0">
            <a:solidFill>
              <a:schemeClr val="tx1"/>
            </a:solidFill>
          </a:endParaRPr>
        </a:p>
      </dgm:t>
    </dgm:pt>
    <dgm:pt modelId="{3E0CA61A-9D4D-442E-B37A-1E263EF373BB}" type="parTrans" cxnId="{8AC8437E-19D1-4B4D-A6D4-01E1F0AD6FFA}">
      <dgm:prSet/>
      <dgm:spPr/>
      <dgm:t>
        <a:bodyPr/>
        <a:lstStyle/>
        <a:p>
          <a:endParaRPr lang="en-US" sz="4000"/>
        </a:p>
      </dgm:t>
    </dgm:pt>
    <dgm:pt modelId="{249182A0-82E7-4FEA-8F15-F7CCFCEE129F}" type="sibTrans" cxnId="{8AC8437E-19D1-4B4D-A6D4-01E1F0AD6FFA}">
      <dgm:prSet/>
      <dgm:spPr/>
      <dgm:t>
        <a:bodyPr/>
        <a:lstStyle/>
        <a:p>
          <a:endParaRPr lang="en-US" sz="4000"/>
        </a:p>
      </dgm:t>
    </dgm:pt>
    <dgm:pt modelId="{34B3C115-421C-4797-9B4B-32EE285C0D03}">
      <dgm:prSet custT="1"/>
      <dgm:spPr>
        <a:solidFill>
          <a:schemeClr val="bg2">
            <a:lumMod val="50000"/>
          </a:schemeClr>
        </a:solidFill>
      </dgm:spPr>
      <dgm:t>
        <a:bodyPr/>
        <a:lstStyle/>
        <a:p>
          <a:pPr algn="just"/>
          <a:r>
            <a:rPr lang="en-US" sz="1600" dirty="0"/>
            <a:t>Enable the client to go the extra mile and achieve better sustainability performance</a:t>
          </a:r>
        </a:p>
      </dgm:t>
    </dgm:pt>
    <dgm:pt modelId="{6308544D-1E86-4A05-AEAA-19750F5B01E5}" type="parTrans" cxnId="{4E5C1769-78AC-411C-B4A4-633715DB98FE}">
      <dgm:prSet/>
      <dgm:spPr/>
      <dgm:t>
        <a:bodyPr/>
        <a:lstStyle/>
        <a:p>
          <a:endParaRPr lang="en-US"/>
        </a:p>
      </dgm:t>
    </dgm:pt>
    <dgm:pt modelId="{A72356F9-30BA-4472-AC07-BF6E23249544}" type="sibTrans" cxnId="{4E5C1769-78AC-411C-B4A4-633715DB98FE}">
      <dgm:prSet/>
      <dgm:spPr/>
      <dgm:t>
        <a:bodyPr/>
        <a:lstStyle/>
        <a:p>
          <a:endParaRPr lang="en-US"/>
        </a:p>
      </dgm:t>
    </dgm:pt>
    <dgm:pt modelId="{244CB2F4-065E-4986-9B03-1717898F0436}">
      <dgm:prSet custT="1"/>
      <dgm:spPr>
        <a:solidFill>
          <a:schemeClr val="bg2">
            <a:lumMod val="50000"/>
          </a:schemeClr>
        </a:solidFill>
      </dgm:spPr>
      <dgm:t>
        <a:bodyPr/>
        <a:lstStyle/>
        <a:p>
          <a:pPr algn="just"/>
          <a:r>
            <a:rPr lang="en-US" sz="1600" b="0" i="0" baseline="0" dirty="0"/>
            <a:t>Relevant, core and  material to the client’s overall businesses and stakeholders, as well as consistent with the overall sustainability strategy </a:t>
          </a:r>
        </a:p>
      </dgm:t>
    </dgm:pt>
    <dgm:pt modelId="{4BFF3855-0CE6-4065-B7EA-53A0F78966D0}" type="sibTrans" cxnId="{58F7B3EF-5452-4391-BD09-AA2C62A34AF7}">
      <dgm:prSet/>
      <dgm:spPr/>
      <dgm:t>
        <a:bodyPr/>
        <a:lstStyle/>
        <a:p>
          <a:endParaRPr lang="en-US" sz="4000"/>
        </a:p>
      </dgm:t>
    </dgm:pt>
    <dgm:pt modelId="{D55842E4-DE2A-4BDC-8E66-020D33EA6E32}" type="parTrans" cxnId="{58F7B3EF-5452-4391-BD09-AA2C62A34AF7}">
      <dgm:prSet/>
      <dgm:spPr/>
      <dgm:t>
        <a:bodyPr/>
        <a:lstStyle/>
        <a:p>
          <a:endParaRPr lang="en-US" sz="4000"/>
        </a:p>
      </dgm:t>
    </dgm:pt>
    <dgm:pt modelId="{B340B484-CC72-4BFD-A0B2-A26B39F062F0}">
      <dgm:prSet custT="1"/>
      <dgm:spPr>
        <a:solidFill>
          <a:schemeClr val="bg1"/>
        </a:solidFill>
      </dgm:spPr>
      <dgm:t>
        <a:bodyPr/>
        <a:lstStyle/>
        <a:p>
          <a:br>
            <a:rPr lang="en-US" sz="1600" b="1" dirty="0">
              <a:solidFill>
                <a:schemeClr val="tx1"/>
              </a:solidFill>
            </a:rPr>
          </a:br>
          <a:r>
            <a:rPr lang="en-US" sz="1600" b="1" dirty="0">
              <a:solidFill>
                <a:schemeClr val="tx1"/>
              </a:solidFill>
            </a:rPr>
            <a:t>3. Data Availability &amp; External Verification</a:t>
          </a:r>
        </a:p>
        <a:p>
          <a:r>
            <a:rPr lang="en-US" sz="1600" dirty="0"/>
            <a:t> </a:t>
          </a:r>
        </a:p>
      </dgm:t>
    </dgm:pt>
    <dgm:pt modelId="{D4246DCF-28C6-4C5E-AFA2-39C2877B2993}" type="sibTrans" cxnId="{CD6B70EB-94CB-447E-B27F-7995BFE862E1}">
      <dgm:prSet/>
      <dgm:spPr/>
      <dgm:t>
        <a:bodyPr/>
        <a:lstStyle/>
        <a:p>
          <a:endParaRPr lang="en-US" sz="4000"/>
        </a:p>
      </dgm:t>
    </dgm:pt>
    <dgm:pt modelId="{6CE24895-6B3E-43C7-B72E-E1DAC625FCC0}" type="parTrans" cxnId="{CD6B70EB-94CB-447E-B27F-7995BFE862E1}">
      <dgm:prSet/>
      <dgm:spPr/>
      <dgm:t>
        <a:bodyPr/>
        <a:lstStyle/>
        <a:p>
          <a:endParaRPr lang="en-US" sz="4000"/>
        </a:p>
      </dgm:t>
    </dgm:pt>
    <dgm:pt modelId="{7EAF162C-CD66-4991-B75E-5BB9359F15B4}">
      <dgm:prSet custT="1"/>
      <dgm:spPr>
        <a:solidFill>
          <a:schemeClr val="bg2">
            <a:lumMod val="50000"/>
          </a:schemeClr>
        </a:solidFill>
      </dgm:spPr>
      <dgm:t>
        <a:bodyPr/>
        <a:lstStyle/>
        <a:p>
          <a:pPr algn="just"/>
          <a:r>
            <a:rPr lang="en-US" sz="1600" dirty="0"/>
            <a:t>Data is measurable or quantifiable on a consistent methodological basis </a:t>
          </a:r>
        </a:p>
      </dgm:t>
    </dgm:pt>
    <dgm:pt modelId="{9E7F10EC-0674-41E4-B679-068F15E71B14}" type="sibTrans" cxnId="{FDF112CA-14BC-48C8-BAFD-07717C1A9C8A}">
      <dgm:prSet/>
      <dgm:spPr/>
      <dgm:t>
        <a:bodyPr/>
        <a:lstStyle/>
        <a:p>
          <a:endParaRPr lang="en-US" sz="4000"/>
        </a:p>
      </dgm:t>
    </dgm:pt>
    <dgm:pt modelId="{94897996-6BCA-48EA-B9A0-89254B9F95C7}" type="parTrans" cxnId="{FDF112CA-14BC-48C8-BAFD-07717C1A9C8A}">
      <dgm:prSet/>
      <dgm:spPr/>
      <dgm:t>
        <a:bodyPr/>
        <a:lstStyle/>
        <a:p>
          <a:endParaRPr lang="en-US" sz="4000"/>
        </a:p>
      </dgm:t>
    </dgm:pt>
    <dgm:pt modelId="{490D37F7-0060-4CF6-9A57-74ED484F9F1A}" type="pres">
      <dgm:prSet presAssocID="{20E79107-6C4E-4C53-82F2-7EB2913C427A}" presName="linear" presStyleCnt="0">
        <dgm:presLayoutVars>
          <dgm:animLvl val="lvl"/>
          <dgm:resizeHandles val="exact"/>
        </dgm:presLayoutVars>
      </dgm:prSet>
      <dgm:spPr/>
    </dgm:pt>
    <dgm:pt modelId="{B3CF63A7-5C5C-4F40-A334-36A3724BC1B7}" type="pres">
      <dgm:prSet presAssocID="{3E6298A9-FCD9-4AF2-A1D1-017A1ABA1E8D}" presName="parentText" presStyleLbl="node1" presStyleIdx="0" presStyleCnt="6">
        <dgm:presLayoutVars>
          <dgm:chMax val="0"/>
          <dgm:bulletEnabled val="1"/>
        </dgm:presLayoutVars>
      </dgm:prSet>
      <dgm:spPr/>
    </dgm:pt>
    <dgm:pt modelId="{D9CC954A-1DB0-4677-BC9C-F80894058851}" type="pres">
      <dgm:prSet presAssocID="{E4A64DCA-50D2-49FA-98D1-24FFBFAA09E0}" presName="spacer" presStyleCnt="0"/>
      <dgm:spPr/>
    </dgm:pt>
    <dgm:pt modelId="{49180B9F-6834-400B-9006-4C5D7E63D885}" type="pres">
      <dgm:prSet presAssocID="{244CB2F4-065E-4986-9B03-1717898F0436}" presName="parentText" presStyleLbl="node1" presStyleIdx="1" presStyleCnt="6" custScaleY="126958" custLinFactY="-33257" custLinFactNeighborX="0" custLinFactNeighborY="-100000">
        <dgm:presLayoutVars>
          <dgm:chMax val="0"/>
          <dgm:bulletEnabled val="1"/>
        </dgm:presLayoutVars>
      </dgm:prSet>
      <dgm:spPr/>
    </dgm:pt>
    <dgm:pt modelId="{3318C2F6-1B8F-466B-9C2C-D2FDA4B02362}" type="pres">
      <dgm:prSet presAssocID="{4BFF3855-0CE6-4065-B7EA-53A0F78966D0}" presName="spacer" presStyleCnt="0"/>
      <dgm:spPr/>
    </dgm:pt>
    <dgm:pt modelId="{C0F771B9-F594-46E2-AD76-081D9387C640}" type="pres">
      <dgm:prSet presAssocID="{933C1C79-4FFF-44FA-BC65-67F3C92B2762}" presName="parentText" presStyleLbl="node1" presStyleIdx="2" presStyleCnt="6" custLinFactY="-16287" custLinFactNeighborY="-100000">
        <dgm:presLayoutVars>
          <dgm:chMax val="0"/>
          <dgm:bulletEnabled val="1"/>
        </dgm:presLayoutVars>
      </dgm:prSet>
      <dgm:spPr/>
    </dgm:pt>
    <dgm:pt modelId="{8354BCC1-BDED-4857-B634-3B44EE46B664}" type="pres">
      <dgm:prSet presAssocID="{249182A0-82E7-4FEA-8F15-F7CCFCEE129F}" presName="spacer" presStyleCnt="0"/>
      <dgm:spPr/>
    </dgm:pt>
    <dgm:pt modelId="{64760082-5409-4A44-A7BE-FB0112D457B6}" type="pres">
      <dgm:prSet presAssocID="{7EAF162C-CD66-4991-B75E-5BB9359F15B4}" presName="parentText" presStyleLbl="node1" presStyleIdx="3" presStyleCnt="6" custLinFactY="127375" custLinFactNeighborY="200000">
        <dgm:presLayoutVars>
          <dgm:chMax val="0"/>
          <dgm:bulletEnabled val="1"/>
        </dgm:presLayoutVars>
      </dgm:prSet>
      <dgm:spPr/>
    </dgm:pt>
    <dgm:pt modelId="{FBEEDE45-A24E-4992-A7B4-E6CBAE0175B3}" type="pres">
      <dgm:prSet presAssocID="{9E7F10EC-0674-41E4-B679-068F15E71B14}" presName="spacer" presStyleCnt="0"/>
      <dgm:spPr/>
    </dgm:pt>
    <dgm:pt modelId="{AC182D7E-3D3C-4062-8DA3-527574858114}" type="pres">
      <dgm:prSet presAssocID="{B340B484-CC72-4BFD-A0B2-A26B39F062F0}" presName="parentText" presStyleLbl="node1" presStyleIdx="4" presStyleCnt="6" custScaleY="19941" custLinFactY="3109" custLinFactNeighborY="100000">
        <dgm:presLayoutVars>
          <dgm:chMax val="0"/>
          <dgm:bulletEnabled val="1"/>
        </dgm:presLayoutVars>
      </dgm:prSet>
      <dgm:spPr/>
    </dgm:pt>
    <dgm:pt modelId="{75B32B02-1777-41C8-89B9-3660C19AE883}" type="pres">
      <dgm:prSet presAssocID="{D4246DCF-28C6-4C5E-AFA2-39C2877B2993}" presName="spacer" presStyleCnt="0"/>
      <dgm:spPr/>
    </dgm:pt>
    <dgm:pt modelId="{315B1506-C3BE-46C6-BC55-692A2142F83D}" type="pres">
      <dgm:prSet presAssocID="{34B3C115-421C-4797-9B4B-32EE285C0D03}" presName="parentText" presStyleLbl="node1" presStyleIdx="5" presStyleCnt="6" custLinFactY="-171569" custLinFactNeighborX="0" custLinFactNeighborY="-200000">
        <dgm:presLayoutVars>
          <dgm:chMax val="0"/>
          <dgm:bulletEnabled val="1"/>
        </dgm:presLayoutVars>
      </dgm:prSet>
      <dgm:spPr/>
    </dgm:pt>
  </dgm:ptLst>
  <dgm:cxnLst>
    <dgm:cxn modelId="{F33F180A-9794-48BC-91BA-036DA958F111}" srcId="{20E79107-6C4E-4C53-82F2-7EB2913C427A}" destId="{3E6298A9-FCD9-4AF2-A1D1-017A1ABA1E8D}" srcOrd="0" destOrd="0" parTransId="{A94A908E-2795-4885-94DD-E25339973420}" sibTransId="{E4A64DCA-50D2-49FA-98D1-24FFBFAA09E0}"/>
    <dgm:cxn modelId="{82D2053C-1414-458E-B55A-B3F188E4BE19}" type="presOf" srcId="{933C1C79-4FFF-44FA-BC65-67F3C92B2762}" destId="{C0F771B9-F594-46E2-AD76-081D9387C640}" srcOrd="0" destOrd="0" presId="urn:microsoft.com/office/officeart/2005/8/layout/vList2"/>
    <dgm:cxn modelId="{5040A43E-83CD-4B6D-B7F8-7ADF32F29F20}" type="presOf" srcId="{7EAF162C-CD66-4991-B75E-5BB9359F15B4}" destId="{64760082-5409-4A44-A7BE-FB0112D457B6}" srcOrd="0" destOrd="0" presId="urn:microsoft.com/office/officeart/2005/8/layout/vList2"/>
    <dgm:cxn modelId="{C555075F-485A-4CCA-B1D0-5B64DC31983C}" type="presOf" srcId="{244CB2F4-065E-4986-9B03-1717898F0436}" destId="{49180B9F-6834-400B-9006-4C5D7E63D885}" srcOrd="0" destOrd="0" presId="urn:microsoft.com/office/officeart/2005/8/layout/vList2"/>
    <dgm:cxn modelId="{50EC6A63-1F0F-49BD-B13F-946787CC7F2A}" type="presOf" srcId="{34B3C115-421C-4797-9B4B-32EE285C0D03}" destId="{315B1506-C3BE-46C6-BC55-692A2142F83D}" srcOrd="0" destOrd="0" presId="urn:microsoft.com/office/officeart/2005/8/layout/vList2"/>
    <dgm:cxn modelId="{9B114648-3ACC-40C5-A75D-70D668F32F72}" type="presOf" srcId="{B340B484-CC72-4BFD-A0B2-A26B39F062F0}" destId="{AC182D7E-3D3C-4062-8DA3-527574858114}" srcOrd="0" destOrd="0" presId="urn:microsoft.com/office/officeart/2005/8/layout/vList2"/>
    <dgm:cxn modelId="{4E5C1769-78AC-411C-B4A4-633715DB98FE}" srcId="{20E79107-6C4E-4C53-82F2-7EB2913C427A}" destId="{34B3C115-421C-4797-9B4B-32EE285C0D03}" srcOrd="5" destOrd="0" parTransId="{6308544D-1E86-4A05-AEAA-19750F5B01E5}" sibTransId="{A72356F9-30BA-4472-AC07-BF6E23249544}"/>
    <dgm:cxn modelId="{8AC8437E-19D1-4B4D-A6D4-01E1F0AD6FFA}" srcId="{20E79107-6C4E-4C53-82F2-7EB2913C427A}" destId="{933C1C79-4FFF-44FA-BC65-67F3C92B2762}" srcOrd="2" destOrd="0" parTransId="{3E0CA61A-9D4D-442E-B37A-1E263EF373BB}" sibTransId="{249182A0-82E7-4FEA-8F15-F7CCFCEE129F}"/>
    <dgm:cxn modelId="{6E6AE8A1-F269-4C24-A555-480A79ACF82F}" type="presOf" srcId="{20E79107-6C4E-4C53-82F2-7EB2913C427A}" destId="{490D37F7-0060-4CF6-9A57-74ED484F9F1A}" srcOrd="0" destOrd="0" presId="urn:microsoft.com/office/officeart/2005/8/layout/vList2"/>
    <dgm:cxn modelId="{7767ADB0-77BC-452F-9EF8-0334B78CA80C}" type="presOf" srcId="{3E6298A9-FCD9-4AF2-A1D1-017A1ABA1E8D}" destId="{B3CF63A7-5C5C-4F40-A334-36A3724BC1B7}" srcOrd="0" destOrd="0" presId="urn:microsoft.com/office/officeart/2005/8/layout/vList2"/>
    <dgm:cxn modelId="{FDF112CA-14BC-48C8-BAFD-07717C1A9C8A}" srcId="{20E79107-6C4E-4C53-82F2-7EB2913C427A}" destId="{7EAF162C-CD66-4991-B75E-5BB9359F15B4}" srcOrd="3" destOrd="0" parTransId="{94897996-6BCA-48EA-B9A0-89254B9F95C7}" sibTransId="{9E7F10EC-0674-41E4-B679-068F15E71B14}"/>
    <dgm:cxn modelId="{CD6B70EB-94CB-447E-B27F-7995BFE862E1}" srcId="{20E79107-6C4E-4C53-82F2-7EB2913C427A}" destId="{B340B484-CC72-4BFD-A0B2-A26B39F062F0}" srcOrd="4" destOrd="0" parTransId="{6CE24895-6B3E-43C7-B72E-E1DAC625FCC0}" sibTransId="{D4246DCF-28C6-4C5E-AFA2-39C2877B2993}"/>
    <dgm:cxn modelId="{58F7B3EF-5452-4391-BD09-AA2C62A34AF7}" srcId="{20E79107-6C4E-4C53-82F2-7EB2913C427A}" destId="{244CB2F4-065E-4986-9B03-1717898F0436}" srcOrd="1" destOrd="0" parTransId="{D55842E4-DE2A-4BDC-8E66-020D33EA6E32}" sibTransId="{4BFF3855-0CE6-4065-B7EA-53A0F78966D0}"/>
    <dgm:cxn modelId="{385932C6-EFA4-4198-BC8C-6F923AAAC887}" type="presParOf" srcId="{490D37F7-0060-4CF6-9A57-74ED484F9F1A}" destId="{B3CF63A7-5C5C-4F40-A334-36A3724BC1B7}" srcOrd="0" destOrd="0" presId="urn:microsoft.com/office/officeart/2005/8/layout/vList2"/>
    <dgm:cxn modelId="{CD8B6169-FC9A-4295-A710-46B41BEAB3AE}" type="presParOf" srcId="{490D37F7-0060-4CF6-9A57-74ED484F9F1A}" destId="{D9CC954A-1DB0-4677-BC9C-F80894058851}" srcOrd="1" destOrd="0" presId="urn:microsoft.com/office/officeart/2005/8/layout/vList2"/>
    <dgm:cxn modelId="{3CC6B44C-844A-471D-B1EB-16538140E340}" type="presParOf" srcId="{490D37F7-0060-4CF6-9A57-74ED484F9F1A}" destId="{49180B9F-6834-400B-9006-4C5D7E63D885}" srcOrd="2" destOrd="0" presId="urn:microsoft.com/office/officeart/2005/8/layout/vList2"/>
    <dgm:cxn modelId="{4DD74DBB-17AC-4B95-8BD0-8294D05B73C3}" type="presParOf" srcId="{490D37F7-0060-4CF6-9A57-74ED484F9F1A}" destId="{3318C2F6-1B8F-466B-9C2C-D2FDA4B02362}" srcOrd="3" destOrd="0" presId="urn:microsoft.com/office/officeart/2005/8/layout/vList2"/>
    <dgm:cxn modelId="{8B5FCBC5-078B-478E-8841-3E705BF52BB8}" type="presParOf" srcId="{490D37F7-0060-4CF6-9A57-74ED484F9F1A}" destId="{C0F771B9-F594-46E2-AD76-081D9387C640}" srcOrd="4" destOrd="0" presId="urn:microsoft.com/office/officeart/2005/8/layout/vList2"/>
    <dgm:cxn modelId="{4AC46448-5E1D-4D34-AC7C-CBB8F5CC6778}" type="presParOf" srcId="{490D37F7-0060-4CF6-9A57-74ED484F9F1A}" destId="{8354BCC1-BDED-4857-B634-3B44EE46B664}" srcOrd="5" destOrd="0" presId="urn:microsoft.com/office/officeart/2005/8/layout/vList2"/>
    <dgm:cxn modelId="{6E7F8A3D-9F16-4774-9E97-DC137D2C45DF}" type="presParOf" srcId="{490D37F7-0060-4CF6-9A57-74ED484F9F1A}" destId="{64760082-5409-4A44-A7BE-FB0112D457B6}" srcOrd="6" destOrd="0" presId="urn:microsoft.com/office/officeart/2005/8/layout/vList2"/>
    <dgm:cxn modelId="{4DC83E2D-5EC1-4C35-A162-6588F49444C2}" type="presParOf" srcId="{490D37F7-0060-4CF6-9A57-74ED484F9F1A}" destId="{FBEEDE45-A24E-4992-A7B4-E6CBAE0175B3}" srcOrd="7" destOrd="0" presId="urn:microsoft.com/office/officeart/2005/8/layout/vList2"/>
    <dgm:cxn modelId="{19E40CA2-8790-45C7-A3D3-837713B1A4A2}" type="presParOf" srcId="{490D37F7-0060-4CF6-9A57-74ED484F9F1A}" destId="{AC182D7E-3D3C-4062-8DA3-527574858114}" srcOrd="8" destOrd="0" presId="urn:microsoft.com/office/officeart/2005/8/layout/vList2"/>
    <dgm:cxn modelId="{3EA70115-D55A-463A-A386-7BC3DD3E6230}" type="presParOf" srcId="{490D37F7-0060-4CF6-9A57-74ED484F9F1A}" destId="{75B32B02-1777-41C8-89B9-3660C19AE883}" srcOrd="9" destOrd="0" presId="urn:microsoft.com/office/officeart/2005/8/layout/vList2"/>
    <dgm:cxn modelId="{72E4C836-FC72-4B33-8CBA-DE758BADB215}" type="presParOf" srcId="{490D37F7-0060-4CF6-9A57-74ED484F9F1A}" destId="{315B1506-C3BE-46C6-BC55-692A2142F83D}" srcOrd="10" destOrd="0" presId="urn:microsoft.com/office/officeart/2005/8/layout/vList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864B38D-1B52-4EA5-BB1B-3A26F97A2357}">
      <dsp:nvSpPr>
        <dsp:cNvPr id="0" name=""/>
        <dsp:cNvSpPr/>
      </dsp:nvSpPr>
      <dsp:spPr>
        <a:xfrm>
          <a:off x="0" y="49553"/>
          <a:ext cx="6281500" cy="383760"/>
        </a:xfrm>
        <a:prstGeom prst="roundRect">
          <a:avLst/>
        </a:prstGeom>
        <a:solidFill>
          <a:srgbClr val="4472C4"/>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dirty="0"/>
            <a:t>1. [Material Issue] </a:t>
          </a:r>
        </a:p>
      </dsp:txBody>
      <dsp:txXfrm>
        <a:off x="18734" y="68287"/>
        <a:ext cx="6244032" cy="346292"/>
      </dsp:txXfrm>
    </dsp:sp>
    <dsp:sp modelId="{1D35749D-8D19-4542-81B3-E92494CA362B}">
      <dsp:nvSpPr>
        <dsp:cNvPr id="0" name=""/>
        <dsp:cNvSpPr/>
      </dsp:nvSpPr>
      <dsp:spPr>
        <a:xfrm>
          <a:off x="0" y="433313"/>
          <a:ext cx="6281500" cy="414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9438" tIns="20320" rIns="113792" bIns="20320" numCol="1" spcCol="1270" anchor="t" anchorCtr="0">
          <a:noAutofit/>
        </a:bodyPr>
        <a:lstStyle/>
        <a:p>
          <a:pPr marL="114300" lvl="1" indent="-114300" algn="l" defTabSz="533400">
            <a:lnSpc>
              <a:spcPct val="90000"/>
            </a:lnSpc>
            <a:spcBef>
              <a:spcPct val="0"/>
            </a:spcBef>
            <a:spcAft>
              <a:spcPct val="20000"/>
            </a:spcAft>
            <a:buChar char="•"/>
          </a:pPr>
          <a:r>
            <a:rPr lang="en-US" sz="1200" kern="1200" dirty="0"/>
            <a:t>[KPI shortlisted]</a:t>
          </a:r>
        </a:p>
        <a:p>
          <a:pPr marL="114300" lvl="1" indent="-114300" algn="l" defTabSz="533400">
            <a:lnSpc>
              <a:spcPct val="90000"/>
            </a:lnSpc>
            <a:spcBef>
              <a:spcPct val="0"/>
            </a:spcBef>
            <a:spcAft>
              <a:spcPct val="20000"/>
            </a:spcAft>
            <a:buChar char="•"/>
          </a:pPr>
          <a:r>
            <a:rPr lang="en-US" sz="1200" kern="1200" dirty="0"/>
            <a:t>Justification: </a:t>
          </a:r>
        </a:p>
      </dsp:txBody>
      <dsp:txXfrm>
        <a:off x="0" y="433313"/>
        <a:ext cx="6281500" cy="414000"/>
      </dsp:txXfrm>
    </dsp:sp>
    <dsp:sp modelId="{D08B0598-D260-4F26-B231-ABD3154603DF}">
      <dsp:nvSpPr>
        <dsp:cNvPr id="0" name=""/>
        <dsp:cNvSpPr/>
      </dsp:nvSpPr>
      <dsp:spPr>
        <a:xfrm>
          <a:off x="0" y="847313"/>
          <a:ext cx="6281500" cy="383760"/>
        </a:xfrm>
        <a:prstGeom prst="roundRect">
          <a:avLst/>
        </a:prstGeom>
        <a:solidFill>
          <a:srgbClr val="4472C4"/>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b="0" kern="1200" dirty="0"/>
            <a:t>2. [Material Issue]</a:t>
          </a:r>
        </a:p>
      </dsp:txBody>
      <dsp:txXfrm>
        <a:off x="18734" y="866047"/>
        <a:ext cx="6244032" cy="346292"/>
      </dsp:txXfrm>
    </dsp:sp>
    <dsp:sp modelId="{0CF4E425-3530-400E-A9EB-9134848CF9F1}">
      <dsp:nvSpPr>
        <dsp:cNvPr id="0" name=""/>
        <dsp:cNvSpPr/>
      </dsp:nvSpPr>
      <dsp:spPr>
        <a:xfrm>
          <a:off x="0" y="1231073"/>
          <a:ext cx="6281500" cy="414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9438" tIns="20320" rIns="113792" bIns="20320" numCol="1" spcCol="1270" anchor="t" anchorCtr="0">
          <a:noAutofit/>
        </a:bodyPr>
        <a:lstStyle/>
        <a:p>
          <a:pPr marL="114300" lvl="1" indent="-114300" algn="l" defTabSz="533400">
            <a:lnSpc>
              <a:spcPct val="90000"/>
            </a:lnSpc>
            <a:spcBef>
              <a:spcPct val="0"/>
            </a:spcBef>
            <a:spcAft>
              <a:spcPct val="20000"/>
            </a:spcAft>
            <a:buChar char="•"/>
          </a:pPr>
          <a:r>
            <a:rPr lang="en-US" sz="1200" kern="1200" dirty="0"/>
            <a:t>[KPI shortlisted]</a:t>
          </a:r>
        </a:p>
        <a:p>
          <a:pPr marL="114300" lvl="1" indent="-114300" algn="l" defTabSz="533400">
            <a:lnSpc>
              <a:spcPct val="90000"/>
            </a:lnSpc>
            <a:spcBef>
              <a:spcPct val="0"/>
            </a:spcBef>
            <a:spcAft>
              <a:spcPct val="20000"/>
            </a:spcAft>
            <a:buChar char="•"/>
          </a:pPr>
          <a:r>
            <a:rPr lang="en-US" sz="1200" kern="1200" dirty="0"/>
            <a:t>Justification: </a:t>
          </a:r>
        </a:p>
      </dsp:txBody>
      <dsp:txXfrm>
        <a:off x="0" y="1231073"/>
        <a:ext cx="6281500" cy="414000"/>
      </dsp:txXfrm>
    </dsp:sp>
    <dsp:sp modelId="{F5F96AD2-297B-427C-91E5-51655A47E94E}">
      <dsp:nvSpPr>
        <dsp:cNvPr id="0" name=""/>
        <dsp:cNvSpPr/>
      </dsp:nvSpPr>
      <dsp:spPr>
        <a:xfrm>
          <a:off x="0" y="1645073"/>
          <a:ext cx="6281500" cy="383760"/>
        </a:xfrm>
        <a:prstGeom prst="roundRect">
          <a:avLst/>
        </a:prstGeom>
        <a:solidFill>
          <a:srgbClr val="4472C4"/>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b="0" kern="1200" dirty="0"/>
            <a:t>3. [Material Issue]</a:t>
          </a:r>
        </a:p>
      </dsp:txBody>
      <dsp:txXfrm>
        <a:off x="18734" y="1663807"/>
        <a:ext cx="6244032" cy="346292"/>
      </dsp:txXfrm>
    </dsp:sp>
    <dsp:sp modelId="{B2A0BD68-6214-4E83-AA7B-0DE185DED354}">
      <dsp:nvSpPr>
        <dsp:cNvPr id="0" name=""/>
        <dsp:cNvSpPr/>
      </dsp:nvSpPr>
      <dsp:spPr>
        <a:xfrm>
          <a:off x="0" y="2028833"/>
          <a:ext cx="6281500" cy="414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9438" tIns="20320" rIns="113792" bIns="20320" numCol="1" spcCol="1270" anchor="t" anchorCtr="0">
          <a:noAutofit/>
        </a:bodyPr>
        <a:lstStyle/>
        <a:p>
          <a:pPr marL="114300" lvl="1" indent="-114300" algn="l" defTabSz="533400">
            <a:lnSpc>
              <a:spcPct val="90000"/>
            </a:lnSpc>
            <a:spcBef>
              <a:spcPct val="0"/>
            </a:spcBef>
            <a:spcAft>
              <a:spcPct val="20000"/>
            </a:spcAft>
            <a:buChar char="•"/>
          </a:pPr>
          <a:r>
            <a:rPr lang="en-US" sz="1200" kern="1200" dirty="0"/>
            <a:t>[KPI shortlisted]</a:t>
          </a:r>
        </a:p>
        <a:p>
          <a:pPr marL="114300" lvl="1" indent="-114300" algn="l" defTabSz="533400">
            <a:lnSpc>
              <a:spcPct val="90000"/>
            </a:lnSpc>
            <a:spcBef>
              <a:spcPct val="0"/>
            </a:spcBef>
            <a:spcAft>
              <a:spcPct val="20000"/>
            </a:spcAft>
            <a:buChar char="•"/>
          </a:pPr>
          <a:r>
            <a:rPr lang="en-US" sz="1200" kern="1200" dirty="0"/>
            <a:t>Justification:</a:t>
          </a:r>
        </a:p>
      </dsp:txBody>
      <dsp:txXfrm>
        <a:off x="0" y="2028833"/>
        <a:ext cx="6281500" cy="414000"/>
      </dsp:txXfrm>
    </dsp:sp>
    <dsp:sp modelId="{1CA3D874-6F9D-4F37-AF5D-A2D150B20FC0}">
      <dsp:nvSpPr>
        <dsp:cNvPr id="0" name=""/>
        <dsp:cNvSpPr/>
      </dsp:nvSpPr>
      <dsp:spPr>
        <a:xfrm>
          <a:off x="0" y="2442833"/>
          <a:ext cx="6281500" cy="383760"/>
        </a:xfrm>
        <a:prstGeom prst="roundRect">
          <a:avLst/>
        </a:prstGeom>
        <a:solidFill>
          <a:srgbClr val="4472C4"/>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b="0" kern="1200" dirty="0"/>
            <a:t>4. [Material Issue]</a:t>
          </a:r>
          <a:endParaRPr lang="en-US" sz="1600" kern="1200" dirty="0"/>
        </a:p>
      </dsp:txBody>
      <dsp:txXfrm>
        <a:off x="18734" y="2461567"/>
        <a:ext cx="6244032" cy="346292"/>
      </dsp:txXfrm>
    </dsp:sp>
    <dsp:sp modelId="{21AE1764-0777-4817-B6E2-A5621FD28AE4}">
      <dsp:nvSpPr>
        <dsp:cNvPr id="0" name=""/>
        <dsp:cNvSpPr/>
      </dsp:nvSpPr>
      <dsp:spPr>
        <a:xfrm>
          <a:off x="0" y="2826593"/>
          <a:ext cx="6281500" cy="414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9438" tIns="20320" rIns="113792" bIns="20320" numCol="1" spcCol="1270" anchor="t" anchorCtr="0">
          <a:noAutofit/>
        </a:bodyPr>
        <a:lstStyle/>
        <a:p>
          <a:pPr marL="114300" lvl="1" indent="-114300" algn="l" defTabSz="533400">
            <a:lnSpc>
              <a:spcPct val="90000"/>
            </a:lnSpc>
            <a:spcBef>
              <a:spcPct val="0"/>
            </a:spcBef>
            <a:spcAft>
              <a:spcPct val="20000"/>
            </a:spcAft>
            <a:buChar char="•"/>
          </a:pPr>
          <a:r>
            <a:rPr lang="en-US" sz="1200" kern="1200" dirty="0"/>
            <a:t>[KPI shortlisted]</a:t>
          </a:r>
        </a:p>
        <a:p>
          <a:pPr marL="114300" lvl="1" indent="-114300" algn="l" defTabSz="533400">
            <a:lnSpc>
              <a:spcPct val="90000"/>
            </a:lnSpc>
            <a:spcBef>
              <a:spcPct val="0"/>
            </a:spcBef>
            <a:spcAft>
              <a:spcPct val="20000"/>
            </a:spcAft>
            <a:buChar char="•"/>
          </a:pPr>
          <a:r>
            <a:rPr lang="en-US" sz="1200" kern="1200"/>
            <a:t>Justification:</a:t>
          </a:r>
          <a:endParaRPr lang="en-US" sz="1200" kern="1200" dirty="0"/>
        </a:p>
      </dsp:txBody>
      <dsp:txXfrm>
        <a:off x="0" y="2826593"/>
        <a:ext cx="6281500" cy="414000"/>
      </dsp:txXfrm>
    </dsp:sp>
    <dsp:sp modelId="{6F2F6A95-5DD2-4DA4-BFF3-37BAD1FF2545}">
      <dsp:nvSpPr>
        <dsp:cNvPr id="0" name=""/>
        <dsp:cNvSpPr/>
      </dsp:nvSpPr>
      <dsp:spPr>
        <a:xfrm>
          <a:off x="0" y="3240593"/>
          <a:ext cx="6281500" cy="383760"/>
        </a:xfrm>
        <a:prstGeom prst="roundRect">
          <a:avLst/>
        </a:prstGeom>
        <a:solidFill>
          <a:srgbClr val="4472C4"/>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b="0" kern="1200" dirty="0"/>
            <a:t>5. [Material Issue]</a:t>
          </a:r>
          <a:endParaRPr lang="en-US" sz="1600" b="1" kern="1200" dirty="0"/>
        </a:p>
      </dsp:txBody>
      <dsp:txXfrm>
        <a:off x="18734" y="3259327"/>
        <a:ext cx="6244032" cy="346292"/>
      </dsp:txXfrm>
    </dsp:sp>
    <dsp:sp modelId="{763069E7-1B90-4919-8690-E36AC40BD6FB}">
      <dsp:nvSpPr>
        <dsp:cNvPr id="0" name=""/>
        <dsp:cNvSpPr/>
      </dsp:nvSpPr>
      <dsp:spPr>
        <a:xfrm>
          <a:off x="0" y="3624353"/>
          <a:ext cx="6281500" cy="414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9438" tIns="20320" rIns="113792" bIns="20320" numCol="1" spcCol="1270" anchor="t" anchorCtr="0">
          <a:noAutofit/>
        </a:bodyPr>
        <a:lstStyle/>
        <a:p>
          <a:pPr marL="114300" lvl="1" indent="-114300" algn="l" defTabSz="533400">
            <a:lnSpc>
              <a:spcPct val="90000"/>
            </a:lnSpc>
            <a:spcBef>
              <a:spcPct val="0"/>
            </a:spcBef>
            <a:spcAft>
              <a:spcPct val="20000"/>
            </a:spcAft>
            <a:buChar char="•"/>
          </a:pPr>
          <a:r>
            <a:rPr lang="en-US" sz="1200" kern="1200" dirty="0"/>
            <a:t>[KPI shortlisted]</a:t>
          </a:r>
        </a:p>
        <a:p>
          <a:pPr marL="114300" lvl="1" indent="-114300" algn="l" defTabSz="533400">
            <a:lnSpc>
              <a:spcPct val="90000"/>
            </a:lnSpc>
            <a:spcBef>
              <a:spcPct val="0"/>
            </a:spcBef>
            <a:spcAft>
              <a:spcPct val="20000"/>
            </a:spcAft>
            <a:buChar char="•"/>
          </a:pPr>
          <a:r>
            <a:rPr lang="en-US" sz="1200" kern="1200" dirty="0"/>
            <a:t>Justification:</a:t>
          </a:r>
        </a:p>
      </dsp:txBody>
      <dsp:txXfrm>
        <a:off x="0" y="3624353"/>
        <a:ext cx="6281500" cy="4140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3CF63A7-5C5C-4F40-A334-36A3724BC1B7}">
      <dsp:nvSpPr>
        <dsp:cNvPr id="0" name=""/>
        <dsp:cNvSpPr/>
      </dsp:nvSpPr>
      <dsp:spPr>
        <a:xfrm>
          <a:off x="0" y="1862"/>
          <a:ext cx="3780977" cy="758598"/>
        </a:xfrm>
        <a:prstGeom prst="roundRect">
          <a:avLst/>
        </a:prstGeom>
        <a:solidFill>
          <a:schemeClr val="bg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b="1" i="0" kern="1200" baseline="0" dirty="0">
              <a:solidFill>
                <a:schemeClr val="tx1"/>
              </a:solidFill>
            </a:rPr>
            <a:t>1. Materiality</a:t>
          </a:r>
          <a:endParaRPr lang="en-US" sz="1600" kern="1200" dirty="0">
            <a:solidFill>
              <a:schemeClr val="tx1"/>
            </a:solidFill>
          </a:endParaRPr>
        </a:p>
      </dsp:txBody>
      <dsp:txXfrm>
        <a:off x="37032" y="38894"/>
        <a:ext cx="3706913" cy="684534"/>
      </dsp:txXfrm>
    </dsp:sp>
    <dsp:sp modelId="{49180B9F-6834-400B-9006-4C5D7E63D885}">
      <dsp:nvSpPr>
        <dsp:cNvPr id="0" name=""/>
        <dsp:cNvSpPr/>
      </dsp:nvSpPr>
      <dsp:spPr>
        <a:xfrm>
          <a:off x="0" y="508173"/>
          <a:ext cx="3780977" cy="963102"/>
        </a:xfrm>
        <a:prstGeom prst="roundRect">
          <a:avLst/>
        </a:prstGeom>
        <a:solidFill>
          <a:schemeClr val="bg2">
            <a:lumMod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just" defTabSz="711200">
            <a:lnSpc>
              <a:spcPct val="90000"/>
            </a:lnSpc>
            <a:spcBef>
              <a:spcPct val="0"/>
            </a:spcBef>
            <a:spcAft>
              <a:spcPct val="35000"/>
            </a:spcAft>
            <a:buNone/>
          </a:pPr>
          <a:r>
            <a:rPr lang="en-US" sz="1600" b="0" i="0" kern="1200" baseline="0" dirty="0"/>
            <a:t>Relevant, core and  material to the client’s overall businesses and stakeholders, as well as consistent with the overall sustainability strategy </a:t>
          </a:r>
        </a:p>
      </dsp:txBody>
      <dsp:txXfrm>
        <a:off x="47015" y="555188"/>
        <a:ext cx="3686947" cy="869072"/>
      </dsp:txXfrm>
    </dsp:sp>
    <dsp:sp modelId="{C0F771B9-F594-46E2-AD76-081D9387C640}">
      <dsp:nvSpPr>
        <dsp:cNvPr id="0" name=""/>
        <dsp:cNvSpPr/>
      </dsp:nvSpPr>
      <dsp:spPr>
        <a:xfrm>
          <a:off x="0" y="1602448"/>
          <a:ext cx="3780977" cy="758598"/>
        </a:xfrm>
        <a:prstGeom prst="roundRect">
          <a:avLst/>
        </a:prstGeom>
        <a:solidFill>
          <a:schemeClr val="bg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b="1" kern="1200" dirty="0">
              <a:solidFill>
                <a:schemeClr val="tx1"/>
              </a:solidFill>
            </a:rPr>
            <a:t>2. </a:t>
          </a:r>
          <a:r>
            <a:rPr lang="en-US" sz="1600" b="1" kern="1200" dirty="0" err="1">
              <a:solidFill>
                <a:schemeClr val="tx1"/>
              </a:solidFill>
            </a:rPr>
            <a:t>Additionality</a:t>
          </a:r>
          <a:endParaRPr lang="en-US" sz="1600" b="1" kern="1200" dirty="0">
            <a:solidFill>
              <a:schemeClr val="tx1"/>
            </a:solidFill>
          </a:endParaRPr>
        </a:p>
      </dsp:txBody>
      <dsp:txXfrm>
        <a:off x="37032" y="1639480"/>
        <a:ext cx="3706913" cy="684534"/>
      </dsp:txXfrm>
    </dsp:sp>
    <dsp:sp modelId="{64760082-5409-4A44-A7BE-FB0112D457B6}">
      <dsp:nvSpPr>
        <dsp:cNvPr id="0" name=""/>
        <dsp:cNvSpPr/>
      </dsp:nvSpPr>
      <dsp:spPr>
        <a:xfrm>
          <a:off x="0" y="3406087"/>
          <a:ext cx="3780977" cy="758598"/>
        </a:xfrm>
        <a:prstGeom prst="roundRect">
          <a:avLst/>
        </a:prstGeom>
        <a:solidFill>
          <a:schemeClr val="bg2">
            <a:lumMod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just" defTabSz="711200">
            <a:lnSpc>
              <a:spcPct val="90000"/>
            </a:lnSpc>
            <a:spcBef>
              <a:spcPct val="0"/>
            </a:spcBef>
            <a:spcAft>
              <a:spcPct val="35000"/>
            </a:spcAft>
            <a:buNone/>
          </a:pPr>
          <a:r>
            <a:rPr lang="en-US" sz="1600" kern="1200" dirty="0"/>
            <a:t>Data is measurable or quantifiable on a consistent methodological basis </a:t>
          </a:r>
        </a:p>
      </dsp:txBody>
      <dsp:txXfrm>
        <a:off x="37032" y="3443119"/>
        <a:ext cx="3706913" cy="684534"/>
      </dsp:txXfrm>
    </dsp:sp>
    <dsp:sp modelId="{AC182D7E-3D3C-4062-8DA3-527574858114}">
      <dsp:nvSpPr>
        <dsp:cNvPr id="0" name=""/>
        <dsp:cNvSpPr/>
      </dsp:nvSpPr>
      <dsp:spPr>
        <a:xfrm>
          <a:off x="0" y="3276537"/>
          <a:ext cx="3780977" cy="151272"/>
        </a:xfrm>
        <a:prstGeom prst="roundRect">
          <a:avLst/>
        </a:prstGeom>
        <a:solidFill>
          <a:schemeClr val="bg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br>
            <a:rPr lang="en-US" sz="1600" b="1" kern="1200" dirty="0">
              <a:solidFill>
                <a:schemeClr val="tx1"/>
              </a:solidFill>
            </a:rPr>
          </a:br>
          <a:r>
            <a:rPr lang="en-US" sz="1600" b="1" kern="1200" dirty="0">
              <a:solidFill>
                <a:schemeClr val="tx1"/>
              </a:solidFill>
            </a:rPr>
            <a:t>3. Data Availability &amp; External Verification</a:t>
          </a:r>
        </a:p>
        <a:p>
          <a:pPr marL="0" lvl="0" indent="0" algn="l" defTabSz="711200">
            <a:lnSpc>
              <a:spcPct val="90000"/>
            </a:lnSpc>
            <a:spcBef>
              <a:spcPct val="0"/>
            </a:spcBef>
            <a:spcAft>
              <a:spcPct val="35000"/>
            </a:spcAft>
            <a:buNone/>
          </a:pPr>
          <a:r>
            <a:rPr lang="en-US" sz="1600" kern="1200" dirty="0"/>
            <a:t> </a:t>
          </a:r>
        </a:p>
      </dsp:txBody>
      <dsp:txXfrm>
        <a:off x="7384" y="3283921"/>
        <a:ext cx="3766209" cy="136504"/>
      </dsp:txXfrm>
    </dsp:sp>
    <dsp:sp modelId="{315B1506-C3BE-46C6-BC55-692A2142F83D}">
      <dsp:nvSpPr>
        <dsp:cNvPr id="0" name=""/>
        <dsp:cNvSpPr/>
      </dsp:nvSpPr>
      <dsp:spPr>
        <a:xfrm>
          <a:off x="0" y="2097827"/>
          <a:ext cx="3780977" cy="758598"/>
        </a:xfrm>
        <a:prstGeom prst="roundRect">
          <a:avLst/>
        </a:prstGeom>
        <a:solidFill>
          <a:schemeClr val="bg2">
            <a:lumMod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just" defTabSz="711200">
            <a:lnSpc>
              <a:spcPct val="90000"/>
            </a:lnSpc>
            <a:spcBef>
              <a:spcPct val="0"/>
            </a:spcBef>
            <a:spcAft>
              <a:spcPct val="35000"/>
            </a:spcAft>
            <a:buNone/>
          </a:pPr>
          <a:r>
            <a:rPr lang="en-US" sz="1600" kern="1200" dirty="0"/>
            <a:t>Enable the client to go the extra mile and achieve better sustainability performance</a:t>
          </a:r>
        </a:p>
      </dsp:txBody>
      <dsp:txXfrm>
        <a:off x="37032" y="2134859"/>
        <a:ext cx="3706913" cy="684534"/>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4E9EA7A-475F-41D9-9A5B-6337B4E2EC3A}" type="datetimeFigureOut">
              <a:rPr lang="en-US" smtClean="0"/>
              <a:t>4/4/2022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7A16AF9-6018-4DAF-B5A5-21F97BEFA763}" type="slidenum">
              <a:rPr lang="en-US" smtClean="0"/>
              <a:t>‹#›</a:t>
            </a:fld>
            <a:endParaRPr lang="en-US"/>
          </a:p>
        </p:txBody>
      </p:sp>
    </p:spTree>
    <p:extLst>
      <p:ext uri="{BB962C8B-B14F-4D97-AF65-F5344CB8AC3E}">
        <p14:creationId xmlns:p14="http://schemas.microsoft.com/office/powerpoint/2010/main" val="40015483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27ACF95-F0D3-4F35-95E3-0735B6FCC6E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666161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15BE34-A367-44A3-8CCF-79424FEFDC4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SG"/>
          </a:p>
        </p:txBody>
      </p:sp>
      <p:sp>
        <p:nvSpPr>
          <p:cNvPr id="3" name="Subtitle 2">
            <a:extLst>
              <a:ext uri="{FF2B5EF4-FFF2-40B4-BE49-F238E27FC236}">
                <a16:creationId xmlns:a16="http://schemas.microsoft.com/office/drawing/2014/main" id="{528EEC0A-090B-48E6-A91E-E6FC137F47E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SG"/>
          </a:p>
        </p:txBody>
      </p:sp>
      <p:sp>
        <p:nvSpPr>
          <p:cNvPr id="4" name="Date Placeholder 3">
            <a:extLst>
              <a:ext uri="{FF2B5EF4-FFF2-40B4-BE49-F238E27FC236}">
                <a16:creationId xmlns:a16="http://schemas.microsoft.com/office/drawing/2014/main" id="{EEA2FB18-C17B-4C9F-839C-34C6A101E0A9}"/>
              </a:ext>
            </a:extLst>
          </p:cNvPr>
          <p:cNvSpPr>
            <a:spLocks noGrp="1"/>
          </p:cNvSpPr>
          <p:nvPr>
            <p:ph type="dt" sz="half" idx="10"/>
          </p:nvPr>
        </p:nvSpPr>
        <p:spPr/>
        <p:txBody>
          <a:bodyPr/>
          <a:lstStyle/>
          <a:p>
            <a:fld id="{5CF11BE5-E081-4F26-8918-2AB00FDE6188}" type="datetimeFigureOut">
              <a:rPr lang="en-SG" smtClean="0"/>
              <a:t>4/4/2022</a:t>
            </a:fld>
            <a:endParaRPr lang="en-SG"/>
          </a:p>
        </p:txBody>
      </p:sp>
      <p:sp>
        <p:nvSpPr>
          <p:cNvPr id="5" name="Footer Placeholder 4">
            <a:extLst>
              <a:ext uri="{FF2B5EF4-FFF2-40B4-BE49-F238E27FC236}">
                <a16:creationId xmlns:a16="http://schemas.microsoft.com/office/drawing/2014/main" id="{B6771B35-F44E-46C0-9C4F-57284A8D162E}"/>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E16050EE-605F-4F04-9637-2BD77AD1513D}"/>
              </a:ext>
            </a:extLst>
          </p:cNvPr>
          <p:cNvSpPr>
            <a:spLocks noGrp="1"/>
          </p:cNvSpPr>
          <p:nvPr>
            <p:ph type="sldNum" sz="quarter" idx="12"/>
          </p:nvPr>
        </p:nvSpPr>
        <p:spPr/>
        <p:txBody>
          <a:bodyPr/>
          <a:lstStyle/>
          <a:p>
            <a:fld id="{E50B3DB8-5B17-4115-A13C-8CC5849A9CF3}" type="slidenum">
              <a:rPr lang="en-SG" smtClean="0"/>
              <a:t>‹#›</a:t>
            </a:fld>
            <a:endParaRPr lang="en-SG"/>
          </a:p>
        </p:txBody>
      </p:sp>
    </p:spTree>
    <p:extLst>
      <p:ext uri="{BB962C8B-B14F-4D97-AF65-F5344CB8AC3E}">
        <p14:creationId xmlns:p14="http://schemas.microsoft.com/office/powerpoint/2010/main" val="5929217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2A3523-3E26-4468-8BB1-7EC82BE43987}"/>
              </a:ext>
            </a:extLst>
          </p:cNvPr>
          <p:cNvSpPr>
            <a:spLocks noGrp="1"/>
          </p:cNvSpPr>
          <p:nvPr>
            <p:ph type="title"/>
          </p:nvPr>
        </p:nvSpPr>
        <p:spPr/>
        <p:txBody>
          <a:bodyPr/>
          <a:lstStyle/>
          <a:p>
            <a:r>
              <a:rPr lang="en-US"/>
              <a:t>Click to edit Master title style</a:t>
            </a:r>
            <a:endParaRPr lang="en-SG"/>
          </a:p>
        </p:txBody>
      </p:sp>
      <p:sp>
        <p:nvSpPr>
          <p:cNvPr id="3" name="Content Placeholder 2">
            <a:extLst>
              <a:ext uri="{FF2B5EF4-FFF2-40B4-BE49-F238E27FC236}">
                <a16:creationId xmlns:a16="http://schemas.microsoft.com/office/drawing/2014/main" id="{53D86DED-755F-4BA1-AEFB-C9656B4B443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A3955321-CC56-435A-8B24-7001157DD5DC}"/>
              </a:ext>
            </a:extLst>
          </p:cNvPr>
          <p:cNvSpPr>
            <a:spLocks noGrp="1"/>
          </p:cNvSpPr>
          <p:nvPr>
            <p:ph type="dt" sz="half" idx="10"/>
          </p:nvPr>
        </p:nvSpPr>
        <p:spPr/>
        <p:txBody>
          <a:bodyPr/>
          <a:lstStyle/>
          <a:p>
            <a:fld id="{5CF11BE5-E081-4F26-8918-2AB00FDE6188}" type="datetimeFigureOut">
              <a:rPr lang="en-SG" smtClean="0"/>
              <a:t>4/4/2022</a:t>
            </a:fld>
            <a:endParaRPr lang="en-SG"/>
          </a:p>
        </p:txBody>
      </p:sp>
      <p:sp>
        <p:nvSpPr>
          <p:cNvPr id="5" name="Footer Placeholder 4">
            <a:extLst>
              <a:ext uri="{FF2B5EF4-FFF2-40B4-BE49-F238E27FC236}">
                <a16:creationId xmlns:a16="http://schemas.microsoft.com/office/drawing/2014/main" id="{29F0A8AC-1680-4CE0-8692-2647CDC489D7}"/>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E93F14B3-4840-4F3D-AD4F-694ADBE75144}"/>
              </a:ext>
            </a:extLst>
          </p:cNvPr>
          <p:cNvSpPr>
            <a:spLocks noGrp="1"/>
          </p:cNvSpPr>
          <p:nvPr>
            <p:ph type="sldNum" sz="quarter" idx="12"/>
          </p:nvPr>
        </p:nvSpPr>
        <p:spPr/>
        <p:txBody>
          <a:bodyPr/>
          <a:lstStyle/>
          <a:p>
            <a:fld id="{E50B3DB8-5B17-4115-A13C-8CC5849A9CF3}" type="slidenum">
              <a:rPr lang="en-SG" smtClean="0"/>
              <a:t>‹#›</a:t>
            </a:fld>
            <a:endParaRPr lang="en-SG"/>
          </a:p>
        </p:txBody>
      </p:sp>
    </p:spTree>
    <p:extLst>
      <p:ext uri="{BB962C8B-B14F-4D97-AF65-F5344CB8AC3E}">
        <p14:creationId xmlns:p14="http://schemas.microsoft.com/office/powerpoint/2010/main" val="41242352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7A9584-0889-4FE2-96C1-EB04B1EB4CE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SG"/>
          </a:p>
        </p:txBody>
      </p:sp>
      <p:sp>
        <p:nvSpPr>
          <p:cNvPr id="3" name="Text Placeholder 2">
            <a:extLst>
              <a:ext uri="{FF2B5EF4-FFF2-40B4-BE49-F238E27FC236}">
                <a16:creationId xmlns:a16="http://schemas.microsoft.com/office/drawing/2014/main" id="{05FC77C2-348B-4231-A849-3A1B4CF3286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CF77716-325A-4D4E-83D2-A1A00335A473}"/>
              </a:ext>
            </a:extLst>
          </p:cNvPr>
          <p:cNvSpPr>
            <a:spLocks noGrp="1"/>
          </p:cNvSpPr>
          <p:nvPr>
            <p:ph type="dt" sz="half" idx="10"/>
          </p:nvPr>
        </p:nvSpPr>
        <p:spPr/>
        <p:txBody>
          <a:bodyPr/>
          <a:lstStyle/>
          <a:p>
            <a:fld id="{5CF11BE5-E081-4F26-8918-2AB00FDE6188}" type="datetimeFigureOut">
              <a:rPr lang="en-SG" smtClean="0"/>
              <a:t>4/4/2022</a:t>
            </a:fld>
            <a:endParaRPr lang="en-SG"/>
          </a:p>
        </p:txBody>
      </p:sp>
      <p:sp>
        <p:nvSpPr>
          <p:cNvPr id="5" name="Footer Placeholder 4">
            <a:extLst>
              <a:ext uri="{FF2B5EF4-FFF2-40B4-BE49-F238E27FC236}">
                <a16:creationId xmlns:a16="http://schemas.microsoft.com/office/drawing/2014/main" id="{59EBABC5-9B13-4A9A-8024-777F77A602F0}"/>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C1D08EC5-AF47-4CEE-8DE9-DE3C6A5424D0}"/>
              </a:ext>
            </a:extLst>
          </p:cNvPr>
          <p:cNvSpPr>
            <a:spLocks noGrp="1"/>
          </p:cNvSpPr>
          <p:nvPr>
            <p:ph type="sldNum" sz="quarter" idx="12"/>
          </p:nvPr>
        </p:nvSpPr>
        <p:spPr/>
        <p:txBody>
          <a:bodyPr/>
          <a:lstStyle/>
          <a:p>
            <a:fld id="{E50B3DB8-5B17-4115-A13C-8CC5849A9CF3}" type="slidenum">
              <a:rPr lang="en-SG" smtClean="0"/>
              <a:t>‹#›</a:t>
            </a:fld>
            <a:endParaRPr lang="en-SG"/>
          </a:p>
        </p:txBody>
      </p:sp>
    </p:spTree>
    <p:extLst>
      <p:ext uri="{BB962C8B-B14F-4D97-AF65-F5344CB8AC3E}">
        <p14:creationId xmlns:p14="http://schemas.microsoft.com/office/powerpoint/2010/main" val="21667001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EF5615-E191-4CBE-A6B8-E14712B92DBE}"/>
              </a:ext>
            </a:extLst>
          </p:cNvPr>
          <p:cNvSpPr>
            <a:spLocks noGrp="1"/>
          </p:cNvSpPr>
          <p:nvPr>
            <p:ph type="title"/>
          </p:nvPr>
        </p:nvSpPr>
        <p:spPr/>
        <p:txBody>
          <a:bodyPr/>
          <a:lstStyle/>
          <a:p>
            <a:r>
              <a:rPr lang="en-US"/>
              <a:t>Click to edit Master title style</a:t>
            </a:r>
            <a:endParaRPr lang="en-SG"/>
          </a:p>
        </p:txBody>
      </p:sp>
      <p:sp>
        <p:nvSpPr>
          <p:cNvPr id="3" name="Content Placeholder 2">
            <a:extLst>
              <a:ext uri="{FF2B5EF4-FFF2-40B4-BE49-F238E27FC236}">
                <a16:creationId xmlns:a16="http://schemas.microsoft.com/office/drawing/2014/main" id="{910D0A9B-441B-4C15-88C8-1E0FA9BE11C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Content Placeholder 3">
            <a:extLst>
              <a:ext uri="{FF2B5EF4-FFF2-40B4-BE49-F238E27FC236}">
                <a16:creationId xmlns:a16="http://schemas.microsoft.com/office/drawing/2014/main" id="{63344C1F-2B2B-4AC9-9FE3-4D3F6EA1DF8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Date Placeholder 4">
            <a:extLst>
              <a:ext uri="{FF2B5EF4-FFF2-40B4-BE49-F238E27FC236}">
                <a16:creationId xmlns:a16="http://schemas.microsoft.com/office/drawing/2014/main" id="{5DA8293F-DDD6-4905-99A4-FC184D9D92C1}"/>
              </a:ext>
            </a:extLst>
          </p:cNvPr>
          <p:cNvSpPr>
            <a:spLocks noGrp="1"/>
          </p:cNvSpPr>
          <p:nvPr>
            <p:ph type="dt" sz="half" idx="10"/>
          </p:nvPr>
        </p:nvSpPr>
        <p:spPr/>
        <p:txBody>
          <a:bodyPr/>
          <a:lstStyle/>
          <a:p>
            <a:fld id="{5CF11BE5-E081-4F26-8918-2AB00FDE6188}" type="datetimeFigureOut">
              <a:rPr lang="en-SG" smtClean="0"/>
              <a:t>4/4/2022</a:t>
            </a:fld>
            <a:endParaRPr lang="en-SG"/>
          </a:p>
        </p:txBody>
      </p:sp>
      <p:sp>
        <p:nvSpPr>
          <p:cNvPr id="6" name="Footer Placeholder 5">
            <a:extLst>
              <a:ext uri="{FF2B5EF4-FFF2-40B4-BE49-F238E27FC236}">
                <a16:creationId xmlns:a16="http://schemas.microsoft.com/office/drawing/2014/main" id="{C753E3FA-2924-48E4-A3A1-7F2AD857687E}"/>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D537DFC5-E033-418D-906C-79A8C35DF343}"/>
              </a:ext>
            </a:extLst>
          </p:cNvPr>
          <p:cNvSpPr>
            <a:spLocks noGrp="1"/>
          </p:cNvSpPr>
          <p:nvPr>
            <p:ph type="sldNum" sz="quarter" idx="12"/>
          </p:nvPr>
        </p:nvSpPr>
        <p:spPr/>
        <p:txBody>
          <a:bodyPr/>
          <a:lstStyle/>
          <a:p>
            <a:fld id="{E50B3DB8-5B17-4115-A13C-8CC5849A9CF3}" type="slidenum">
              <a:rPr lang="en-SG" smtClean="0"/>
              <a:t>‹#›</a:t>
            </a:fld>
            <a:endParaRPr lang="en-SG"/>
          </a:p>
        </p:txBody>
      </p:sp>
    </p:spTree>
    <p:extLst>
      <p:ext uri="{BB962C8B-B14F-4D97-AF65-F5344CB8AC3E}">
        <p14:creationId xmlns:p14="http://schemas.microsoft.com/office/powerpoint/2010/main" val="11477214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6CD048-EDDB-4C24-9D06-760EC4E85126}"/>
              </a:ext>
            </a:extLst>
          </p:cNvPr>
          <p:cNvSpPr>
            <a:spLocks noGrp="1"/>
          </p:cNvSpPr>
          <p:nvPr>
            <p:ph type="title"/>
          </p:nvPr>
        </p:nvSpPr>
        <p:spPr>
          <a:xfrm>
            <a:off x="839788" y="365125"/>
            <a:ext cx="10515600" cy="1325563"/>
          </a:xfrm>
        </p:spPr>
        <p:txBody>
          <a:bodyPr/>
          <a:lstStyle/>
          <a:p>
            <a:r>
              <a:rPr lang="en-US"/>
              <a:t>Click to edit Master title style</a:t>
            </a:r>
            <a:endParaRPr lang="en-SG"/>
          </a:p>
        </p:txBody>
      </p:sp>
      <p:sp>
        <p:nvSpPr>
          <p:cNvPr id="3" name="Text Placeholder 2">
            <a:extLst>
              <a:ext uri="{FF2B5EF4-FFF2-40B4-BE49-F238E27FC236}">
                <a16:creationId xmlns:a16="http://schemas.microsoft.com/office/drawing/2014/main" id="{6490BEA4-A848-4A82-8E00-AD2056E611B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F07A035-3261-4C68-A952-6CA679C572A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Text Placeholder 4">
            <a:extLst>
              <a:ext uri="{FF2B5EF4-FFF2-40B4-BE49-F238E27FC236}">
                <a16:creationId xmlns:a16="http://schemas.microsoft.com/office/drawing/2014/main" id="{1F4B5F70-B408-47E1-9AC5-6B4B66B6C75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D56C4FA-6492-476E-9F90-F5D4690B5D8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7" name="Date Placeholder 6">
            <a:extLst>
              <a:ext uri="{FF2B5EF4-FFF2-40B4-BE49-F238E27FC236}">
                <a16:creationId xmlns:a16="http://schemas.microsoft.com/office/drawing/2014/main" id="{99DEC288-36EF-4F69-AB28-3443DF2B367C}"/>
              </a:ext>
            </a:extLst>
          </p:cNvPr>
          <p:cNvSpPr>
            <a:spLocks noGrp="1"/>
          </p:cNvSpPr>
          <p:nvPr>
            <p:ph type="dt" sz="half" idx="10"/>
          </p:nvPr>
        </p:nvSpPr>
        <p:spPr/>
        <p:txBody>
          <a:bodyPr/>
          <a:lstStyle/>
          <a:p>
            <a:fld id="{5CF11BE5-E081-4F26-8918-2AB00FDE6188}" type="datetimeFigureOut">
              <a:rPr lang="en-SG" smtClean="0"/>
              <a:t>4/4/2022</a:t>
            </a:fld>
            <a:endParaRPr lang="en-SG"/>
          </a:p>
        </p:txBody>
      </p:sp>
      <p:sp>
        <p:nvSpPr>
          <p:cNvPr id="8" name="Footer Placeholder 7">
            <a:extLst>
              <a:ext uri="{FF2B5EF4-FFF2-40B4-BE49-F238E27FC236}">
                <a16:creationId xmlns:a16="http://schemas.microsoft.com/office/drawing/2014/main" id="{FDA9A30F-6E0C-4395-92A3-D782614519AD}"/>
              </a:ext>
            </a:extLst>
          </p:cNvPr>
          <p:cNvSpPr>
            <a:spLocks noGrp="1"/>
          </p:cNvSpPr>
          <p:nvPr>
            <p:ph type="ftr" sz="quarter" idx="11"/>
          </p:nvPr>
        </p:nvSpPr>
        <p:spPr/>
        <p:txBody>
          <a:bodyPr/>
          <a:lstStyle/>
          <a:p>
            <a:endParaRPr lang="en-SG"/>
          </a:p>
        </p:txBody>
      </p:sp>
      <p:sp>
        <p:nvSpPr>
          <p:cNvPr id="9" name="Slide Number Placeholder 8">
            <a:extLst>
              <a:ext uri="{FF2B5EF4-FFF2-40B4-BE49-F238E27FC236}">
                <a16:creationId xmlns:a16="http://schemas.microsoft.com/office/drawing/2014/main" id="{3BCC3B7B-4397-470D-9E91-E5FA88ED22A3}"/>
              </a:ext>
            </a:extLst>
          </p:cNvPr>
          <p:cNvSpPr>
            <a:spLocks noGrp="1"/>
          </p:cNvSpPr>
          <p:nvPr>
            <p:ph type="sldNum" sz="quarter" idx="12"/>
          </p:nvPr>
        </p:nvSpPr>
        <p:spPr/>
        <p:txBody>
          <a:bodyPr/>
          <a:lstStyle/>
          <a:p>
            <a:fld id="{E50B3DB8-5B17-4115-A13C-8CC5849A9CF3}" type="slidenum">
              <a:rPr lang="en-SG" smtClean="0"/>
              <a:t>‹#›</a:t>
            </a:fld>
            <a:endParaRPr lang="en-SG"/>
          </a:p>
        </p:txBody>
      </p:sp>
    </p:spTree>
    <p:extLst>
      <p:ext uri="{BB962C8B-B14F-4D97-AF65-F5344CB8AC3E}">
        <p14:creationId xmlns:p14="http://schemas.microsoft.com/office/powerpoint/2010/main" val="12609396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F1B79F-0D6B-4FD8-83C0-B23EE60374E7}"/>
              </a:ext>
            </a:extLst>
          </p:cNvPr>
          <p:cNvSpPr>
            <a:spLocks noGrp="1"/>
          </p:cNvSpPr>
          <p:nvPr>
            <p:ph type="title"/>
          </p:nvPr>
        </p:nvSpPr>
        <p:spPr/>
        <p:txBody>
          <a:bodyPr/>
          <a:lstStyle/>
          <a:p>
            <a:r>
              <a:rPr lang="en-US"/>
              <a:t>Click to edit Master title style</a:t>
            </a:r>
            <a:endParaRPr lang="en-SG"/>
          </a:p>
        </p:txBody>
      </p:sp>
      <p:sp>
        <p:nvSpPr>
          <p:cNvPr id="3" name="Date Placeholder 2">
            <a:extLst>
              <a:ext uri="{FF2B5EF4-FFF2-40B4-BE49-F238E27FC236}">
                <a16:creationId xmlns:a16="http://schemas.microsoft.com/office/drawing/2014/main" id="{1A23D899-B4C9-4290-8C57-7293E24230E3}"/>
              </a:ext>
            </a:extLst>
          </p:cNvPr>
          <p:cNvSpPr>
            <a:spLocks noGrp="1"/>
          </p:cNvSpPr>
          <p:nvPr>
            <p:ph type="dt" sz="half" idx="10"/>
          </p:nvPr>
        </p:nvSpPr>
        <p:spPr/>
        <p:txBody>
          <a:bodyPr/>
          <a:lstStyle/>
          <a:p>
            <a:fld id="{5CF11BE5-E081-4F26-8918-2AB00FDE6188}" type="datetimeFigureOut">
              <a:rPr lang="en-SG" smtClean="0"/>
              <a:t>4/4/2022</a:t>
            </a:fld>
            <a:endParaRPr lang="en-SG"/>
          </a:p>
        </p:txBody>
      </p:sp>
      <p:sp>
        <p:nvSpPr>
          <p:cNvPr id="4" name="Footer Placeholder 3">
            <a:extLst>
              <a:ext uri="{FF2B5EF4-FFF2-40B4-BE49-F238E27FC236}">
                <a16:creationId xmlns:a16="http://schemas.microsoft.com/office/drawing/2014/main" id="{4B5FE2C8-6812-4298-81B2-B9BB4B8E5B24}"/>
              </a:ext>
            </a:extLst>
          </p:cNvPr>
          <p:cNvSpPr>
            <a:spLocks noGrp="1"/>
          </p:cNvSpPr>
          <p:nvPr>
            <p:ph type="ftr" sz="quarter" idx="11"/>
          </p:nvPr>
        </p:nvSpPr>
        <p:spPr/>
        <p:txBody>
          <a:bodyPr/>
          <a:lstStyle/>
          <a:p>
            <a:endParaRPr lang="en-SG"/>
          </a:p>
        </p:txBody>
      </p:sp>
      <p:sp>
        <p:nvSpPr>
          <p:cNvPr id="5" name="Slide Number Placeholder 4">
            <a:extLst>
              <a:ext uri="{FF2B5EF4-FFF2-40B4-BE49-F238E27FC236}">
                <a16:creationId xmlns:a16="http://schemas.microsoft.com/office/drawing/2014/main" id="{C61D9644-C436-4880-90DA-C392580E2572}"/>
              </a:ext>
            </a:extLst>
          </p:cNvPr>
          <p:cNvSpPr>
            <a:spLocks noGrp="1"/>
          </p:cNvSpPr>
          <p:nvPr>
            <p:ph type="sldNum" sz="quarter" idx="12"/>
          </p:nvPr>
        </p:nvSpPr>
        <p:spPr/>
        <p:txBody>
          <a:bodyPr/>
          <a:lstStyle/>
          <a:p>
            <a:fld id="{E50B3DB8-5B17-4115-A13C-8CC5849A9CF3}" type="slidenum">
              <a:rPr lang="en-SG" smtClean="0"/>
              <a:t>‹#›</a:t>
            </a:fld>
            <a:endParaRPr lang="en-SG"/>
          </a:p>
        </p:txBody>
      </p:sp>
    </p:spTree>
    <p:extLst>
      <p:ext uri="{BB962C8B-B14F-4D97-AF65-F5344CB8AC3E}">
        <p14:creationId xmlns:p14="http://schemas.microsoft.com/office/powerpoint/2010/main" val="10680836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6E3BA26-7137-4E0C-9FAE-B8C56BC3E61B}"/>
              </a:ext>
            </a:extLst>
          </p:cNvPr>
          <p:cNvSpPr>
            <a:spLocks noGrp="1"/>
          </p:cNvSpPr>
          <p:nvPr>
            <p:ph type="dt" sz="half" idx="10"/>
          </p:nvPr>
        </p:nvSpPr>
        <p:spPr/>
        <p:txBody>
          <a:bodyPr/>
          <a:lstStyle/>
          <a:p>
            <a:fld id="{5CF11BE5-E081-4F26-8918-2AB00FDE6188}" type="datetimeFigureOut">
              <a:rPr lang="en-SG" smtClean="0"/>
              <a:t>4/4/2022</a:t>
            </a:fld>
            <a:endParaRPr lang="en-SG"/>
          </a:p>
        </p:txBody>
      </p:sp>
      <p:sp>
        <p:nvSpPr>
          <p:cNvPr id="3" name="Footer Placeholder 2">
            <a:extLst>
              <a:ext uri="{FF2B5EF4-FFF2-40B4-BE49-F238E27FC236}">
                <a16:creationId xmlns:a16="http://schemas.microsoft.com/office/drawing/2014/main" id="{4DD75CD7-9498-460F-B21A-A8C375708F1A}"/>
              </a:ext>
            </a:extLst>
          </p:cNvPr>
          <p:cNvSpPr>
            <a:spLocks noGrp="1"/>
          </p:cNvSpPr>
          <p:nvPr>
            <p:ph type="ftr" sz="quarter" idx="11"/>
          </p:nvPr>
        </p:nvSpPr>
        <p:spPr/>
        <p:txBody>
          <a:bodyPr/>
          <a:lstStyle/>
          <a:p>
            <a:endParaRPr lang="en-SG"/>
          </a:p>
        </p:txBody>
      </p:sp>
      <p:sp>
        <p:nvSpPr>
          <p:cNvPr id="4" name="Slide Number Placeholder 3">
            <a:extLst>
              <a:ext uri="{FF2B5EF4-FFF2-40B4-BE49-F238E27FC236}">
                <a16:creationId xmlns:a16="http://schemas.microsoft.com/office/drawing/2014/main" id="{BE78C2AE-ED11-4AFB-BBAF-9677A8CEC7C5}"/>
              </a:ext>
            </a:extLst>
          </p:cNvPr>
          <p:cNvSpPr>
            <a:spLocks noGrp="1"/>
          </p:cNvSpPr>
          <p:nvPr>
            <p:ph type="sldNum" sz="quarter" idx="12"/>
          </p:nvPr>
        </p:nvSpPr>
        <p:spPr/>
        <p:txBody>
          <a:bodyPr/>
          <a:lstStyle/>
          <a:p>
            <a:fld id="{E50B3DB8-5B17-4115-A13C-8CC5849A9CF3}" type="slidenum">
              <a:rPr lang="en-SG" smtClean="0"/>
              <a:t>‹#›</a:t>
            </a:fld>
            <a:endParaRPr lang="en-SG"/>
          </a:p>
        </p:txBody>
      </p:sp>
    </p:spTree>
    <p:extLst>
      <p:ext uri="{BB962C8B-B14F-4D97-AF65-F5344CB8AC3E}">
        <p14:creationId xmlns:p14="http://schemas.microsoft.com/office/powerpoint/2010/main" val="25322231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93B3EC-8DF6-4BAD-A1B3-EF48BBA4B5B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Content Placeholder 2">
            <a:extLst>
              <a:ext uri="{FF2B5EF4-FFF2-40B4-BE49-F238E27FC236}">
                <a16:creationId xmlns:a16="http://schemas.microsoft.com/office/drawing/2014/main" id="{2A7918CA-AF4E-4745-9F1F-2855FB4AA49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Text Placeholder 3">
            <a:extLst>
              <a:ext uri="{FF2B5EF4-FFF2-40B4-BE49-F238E27FC236}">
                <a16:creationId xmlns:a16="http://schemas.microsoft.com/office/drawing/2014/main" id="{060B2A7E-2EAF-443D-AC57-2C14FD1EB0F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3D91330-196E-416A-9C5A-27FC490114B6}"/>
              </a:ext>
            </a:extLst>
          </p:cNvPr>
          <p:cNvSpPr>
            <a:spLocks noGrp="1"/>
          </p:cNvSpPr>
          <p:nvPr>
            <p:ph type="dt" sz="half" idx="10"/>
          </p:nvPr>
        </p:nvSpPr>
        <p:spPr/>
        <p:txBody>
          <a:bodyPr/>
          <a:lstStyle/>
          <a:p>
            <a:fld id="{5CF11BE5-E081-4F26-8918-2AB00FDE6188}" type="datetimeFigureOut">
              <a:rPr lang="en-SG" smtClean="0"/>
              <a:t>4/4/2022</a:t>
            </a:fld>
            <a:endParaRPr lang="en-SG"/>
          </a:p>
        </p:txBody>
      </p:sp>
      <p:sp>
        <p:nvSpPr>
          <p:cNvPr id="6" name="Footer Placeholder 5">
            <a:extLst>
              <a:ext uri="{FF2B5EF4-FFF2-40B4-BE49-F238E27FC236}">
                <a16:creationId xmlns:a16="http://schemas.microsoft.com/office/drawing/2014/main" id="{9E5202E3-8B13-493A-A5DB-403B8B48C11C}"/>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EE3542A3-5176-439B-93ED-6817A5B4E728}"/>
              </a:ext>
            </a:extLst>
          </p:cNvPr>
          <p:cNvSpPr>
            <a:spLocks noGrp="1"/>
          </p:cNvSpPr>
          <p:nvPr>
            <p:ph type="sldNum" sz="quarter" idx="12"/>
          </p:nvPr>
        </p:nvSpPr>
        <p:spPr/>
        <p:txBody>
          <a:bodyPr/>
          <a:lstStyle/>
          <a:p>
            <a:fld id="{E50B3DB8-5B17-4115-A13C-8CC5849A9CF3}" type="slidenum">
              <a:rPr lang="en-SG" smtClean="0"/>
              <a:t>‹#›</a:t>
            </a:fld>
            <a:endParaRPr lang="en-SG"/>
          </a:p>
        </p:txBody>
      </p:sp>
    </p:spTree>
    <p:extLst>
      <p:ext uri="{BB962C8B-B14F-4D97-AF65-F5344CB8AC3E}">
        <p14:creationId xmlns:p14="http://schemas.microsoft.com/office/powerpoint/2010/main" val="25628284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8384EE-41B9-42E9-A472-99718F65DE6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Picture Placeholder 2">
            <a:extLst>
              <a:ext uri="{FF2B5EF4-FFF2-40B4-BE49-F238E27FC236}">
                <a16:creationId xmlns:a16="http://schemas.microsoft.com/office/drawing/2014/main" id="{F4FFEC3B-DD32-44B5-8AAC-CC81E174C25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SG"/>
          </a:p>
        </p:txBody>
      </p:sp>
      <p:sp>
        <p:nvSpPr>
          <p:cNvPr id="4" name="Text Placeholder 3">
            <a:extLst>
              <a:ext uri="{FF2B5EF4-FFF2-40B4-BE49-F238E27FC236}">
                <a16:creationId xmlns:a16="http://schemas.microsoft.com/office/drawing/2014/main" id="{DA274719-3BF5-40E8-AE27-CDB5C42A7FA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9031CAD-4027-41C5-AF03-470159064057}"/>
              </a:ext>
            </a:extLst>
          </p:cNvPr>
          <p:cNvSpPr>
            <a:spLocks noGrp="1"/>
          </p:cNvSpPr>
          <p:nvPr>
            <p:ph type="dt" sz="half" idx="10"/>
          </p:nvPr>
        </p:nvSpPr>
        <p:spPr/>
        <p:txBody>
          <a:bodyPr/>
          <a:lstStyle/>
          <a:p>
            <a:fld id="{5CF11BE5-E081-4F26-8918-2AB00FDE6188}" type="datetimeFigureOut">
              <a:rPr lang="en-SG" smtClean="0"/>
              <a:t>4/4/2022</a:t>
            </a:fld>
            <a:endParaRPr lang="en-SG"/>
          </a:p>
        </p:txBody>
      </p:sp>
      <p:sp>
        <p:nvSpPr>
          <p:cNvPr id="6" name="Footer Placeholder 5">
            <a:extLst>
              <a:ext uri="{FF2B5EF4-FFF2-40B4-BE49-F238E27FC236}">
                <a16:creationId xmlns:a16="http://schemas.microsoft.com/office/drawing/2014/main" id="{A9A1BADC-7F10-4985-85DC-EDCBB3ED885C}"/>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D123A8BB-7A41-46E1-A3FC-96E3F3E906B9}"/>
              </a:ext>
            </a:extLst>
          </p:cNvPr>
          <p:cNvSpPr>
            <a:spLocks noGrp="1"/>
          </p:cNvSpPr>
          <p:nvPr>
            <p:ph type="sldNum" sz="quarter" idx="12"/>
          </p:nvPr>
        </p:nvSpPr>
        <p:spPr/>
        <p:txBody>
          <a:bodyPr/>
          <a:lstStyle/>
          <a:p>
            <a:fld id="{E50B3DB8-5B17-4115-A13C-8CC5849A9CF3}" type="slidenum">
              <a:rPr lang="en-SG" smtClean="0"/>
              <a:t>‹#›</a:t>
            </a:fld>
            <a:endParaRPr lang="en-SG"/>
          </a:p>
        </p:txBody>
      </p:sp>
    </p:spTree>
    <p:extLst>
      <p:ext uri="{BB962C8B-B14F-4D97-AF65-F5344CB8AC3E}">
        <p14:creationId xmlns:p14="http://schemas.microsoft.com/office/powerpoint/2010/main" val="14676120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8355C6-8B74-49CD-9D38-519B8C486CCD}"/>
              </a:ext>
            </a:extLst>
          </p:cNvPr>
          <p:cNvSpPr>
            <a:spLocks noGrp="1"/>
          </p:cNvSpPr>
          <p:nvPr>
            <p:ph type="title"/>
          </p:nvPr>
        </p:nvSpPr>
        <p:spPr/>
        <p:txBody>
          <a:bodyPr/>
          <a:lstStyle/>
          <a:p>
            <a:r>
              <a:rPr lang="en-US"/>
              <a:t>Click to edit Master title style</a:t>
            </a:r>
            <a:endParaRPr lang="en-SG"/>
          </a:p>
        </p:txBody>
      </p:sp>
      <p:sp>
        <p:nvSpPr>
          <p:cNvPr id="3" name="Vertical Text Placeholder 2">
            <a:extLst>
              <a:ext uri="{FF2B5EF4-FFF2-40B4-BE49-F238E27FC236}">
                <a16:creationId xmlns:a16="http://schemas.microsoft.com/office/drawing/2014/main" id="{00BC5AC1-E225-457C-84AE-00DA642C689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3DF872DC-43E4-4DC4-8243-60437BB617CA}"/>
              </a:ext>
            </a:extLst>
          </p:cNvPr>
          <p:cNvSpPr>
            <a:spLocks noGrp="1"/>
          </p:cNvSpPr>
          <p:nvPr>
            <p:ph type="dt" sz="half" idx="10"/>
          </p:nvPr>
        </p:nvSpPr>
        <p:spPr/>
        <p:txBody>
          <a:bodyPr/>
          <a:lstStyle/>
          <a:p>
            <a:fld id="{5CF11BE5-E081-4F26-8918-2AB00FDE6188}" type="datetimeFigureOut">
              <a:rPr lang="en-SG" smtClean="0"/>
              <a:t>4/4/2022</a:t>
            </a:fld>
            <a:endParaRPr lang="en-SG"/>
          </a:p>
        </p:txBody>
      </p:sp>
      <p:sp>
        <p:nvSpPr>
          <p:cNvPr id="5" name="Footer Placeholder 4">
            <a:extLst>
              <a:ext uri="{FF2B5EF4-FFF2-40B4-BE49-F238E27FC236}">
                <a16:creationId xmlns:a16="http://schemas.microsoft.com/office/drawing/2014/main" id="{4FBAA2BD-988C-48A1-B877-7CB5A4154654}"/>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732F4FF9-C91B-40D8-B605-07D872F34814}"/>
              </a:ext>
            </a:extLst>
          </p:cNvPr>
          <p:cNvSpPr>
            <a:spLocks noGrp="1"/>
          </p:cNvSpPr>
          <p:nvPr>
            <p:ph type="sldNum" sz="quarter" idx="12"/>
          </p:nvPr>
        </p:nvSpPr>
        <p:spPr/>
        <p:txBody>
          <a:bodyPr/>
          <a:lstStyle/>
          <a:p>
            <a:fld id="{E50B3DB8-5B17-4115-A13C-8CC5849A9CF3}" type="slidenum">
              <a:rPr lang="en-SG" smtClean="0"/>
              <a:t>‹#›</a:t>
            </a:fld>
            <a:endParaRPr lang="en-SG"/>
          </a:p>
        </p:txBody>
      </p:sp>
    </p:spTree>
    <p:extLst>
      <p:ext uri="{BB962C8B-B14F-4D97-AF65-F5344CB8AC3E}">
        <p14:creationId xmlns:p14="http://schemas.microsoft.com/office/powerpoint/2010/main" val="33985172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1EB00CB-5823-48FF-8349-E49AE3692A5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SG"/>
          </a:p>
        </p:txBody>
      </p:sp>
      <p:sp>
        <p:nvSpPr>
          <p:cNvPr id="3" name="Vertical Text Placeholder 2">
            <a:extLst>
              <a:ext uri="{FF2B5EF4-FFF2-40B4-BE49-F238E27FC236}">
                <a16:creationId xmlns:a16="http://schemas.microsoft.com/office/drawing/2014/main" id="{91150AB6-F84F-41D5-BC73-C654DD6E484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8EAC0900-E80D-4194-9B3E-0CDF6FCAB31A}"/>
              </a:ext>
            </a:extLst>
          </p:cNvPr>
          <p:cNvSpPr>
            <a:spLocks noGrp="1"/>
          </p:cNvSpPr>
          <p:nvPr>
            <p:ph type="dt" sz="half" idx="10"/>
          </p:nvPr>
        </p:nvSpPr>
        <p:spPr/>
        <p:txBody>
          <a:bodyPr/>
          <a:lstStyle/>
          <a:p>
            <a:fld id="{5CF11BE5-E081-4F26-8918-2AB00FDE6188}" type="datetimeFigureOut">
              <a:rPr lang="en-SG" smtClean="0"/>
              <a:t>4/4/2022</a:t>
            </a:fld>
            <a:endParaRPr lang="en-SG"/>
          </a:p>
        </p:txBody>
      </p:sp>
      <p:sp>
        <p:nvSpPr>
          <p:cNvPr id="5" name="Footer Placeholder 4">
            <a:extLst>
              <a:ext uri="{FF2B5EF4-FFF2-40B4-BE49-F238E27FC236}">
                <a16:creationId xmlns:a16="http://schemas.microsoft.com/office/drawing/2014/main" id="{680506A2-33DC-49A8-891C-DFF093280A07}"/>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BD51873B-5B4C-4496-8C8D-F0421BAB76C3}"/>
              </a:ext>
            </a:extLst>
          </p:cNvPr>
          <p:cNvSpPr>
            <a:spLocks noGrp="1"/>
          </p:cNvSpPr>
          <p:nvPr>
            <p:ph type="sldNum" sz="quarter" idx="12"/>
          </p:nvPr>
        </p:nvSpPr>
        <p:spPr/>
        <p:txBody>
          <a:bodyPr/>
          <a:lstStyle/>
          <a:p>
            <a:fld id="{E50B3DB8-5B17-4115-A13C-8CC5849A9CF3}" type="slidenum">
              <a:rPr lang="en-SG" smtClean="0"/>
              <a:t>‹#›</a:t>
            </a:fld>
            <a:endParaRPr lang="en-SG"/>
          </a:p>
        </p:txBody>
      </p:sp>
    </p:spTree>
    <p:extLst>
      <p:ext uri="{BB962C8B-B14F-4D97-AF65-F5344CB8AC3E}">
        <p14:creationId xmlns:p14="http://schemas.microsoft.com/office/powerpoint/2010/main" val="360428712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EDIT MASTER TITLE STYLE</a:t>
            </a:r>
          </a:p>
        </p:txBody>
      </p:sp>
    </p:spTree>
    <p:extLst>
      <p:ext uri="{BB962C8B-B14F-4D97-AF65-F5344CB8AC3E}">
        <p14:creationId xmlns:p14="http://schemas.microsoft.com/office/powerpoint/2010/main" val="214846063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Title, bullet text and 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7A0295-5EC7-4276-83D7-012C07C18646}"/>
              </a:ext>
            </a:extLst>
          </p:cNvPr>
          <p:cNvSpPr>
            <a:spLocks noGrp="1"/>
          </p:cNvSpPr>
          <p:nvPr>
            <p:ph type="title"/>
          </p:nvPr>
        </p:nvSpPr>
        <p:spPr>
          <a:xfrm>
            <a:off x="550862" y="378886"/>
            <a:ext cx="11090275" cy="736600"/>
          </a:xfrm>
        </p:spPr>
        <p:txBody>
          <a:bodyPr/>
          <a:lstStyle/>
          <a:p>
            <a:r>
              <a:rPr lang="en-US"/>
              <a:t>Click to edit Master title style</a:t>
            </a:r>
          </a:p>
        </p:txBody>
      </p:sp>
      <p:sp>
        <p:nvSpPr>
          <p:cNvPr id="9" name="Slide Number Placeholder 5">
            <a:extLst>
              <a:ext uri="{FF2B5EF4-FFF2-40B4-BE49-F238E27FC236}">
                <a16:creationId xmlns:a16="http://schemas.microsoft.com/office/drawing/2014/main" id="{BB0187CA-E3A6-514D-B752-0E9DA4BD1B60}"/>
              </a:ext>
            </a:extLst>
          </p:cNvPr>
          <p:cNvSpPr txBox="1">
            <a:spLocks/>
          </p:cNvSpPr>
          <p:nvPr/>
        </p:nvSpPr>
        <p:spPr>
          <a:xfrm>
            <a:off x="11327027" y="6270115"/>
            <a:ext cx="316083" cy="365125"/>
          </a:xfrm>
          <a:prstGeom prst="rect">
            <a:avLst/>
          </a:prstGeom>
        </p:spPr>
        <p:txBody>
          <a:bodyPr lIns="46800" rIns="0" anchor="ctr" anchorCtr="0"/>
          <a:lstStyle>
            <a:defPPr>
              <a:defRPr lang="en-US"/>
            </a:defPPr>
            <a:lvl1pPr marL="0" algn="r" defTabSz="914400" rtl="0" eaLnBrk="1" latinLnBrk="0" hangingPunct="1">
              <a:defRPr sz="800" kern="1200">
                <a:solidFill>
                  <a:srgbClr val="00B1A9"/>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595E21E-DEBA-8F42-9C16-77733D726770}" type="slidenum">
              <a:rPr lang="en-US" sz="1000" b="1" smtClean="0">
                <a:solidFill>
                  <a:srgbClr val="FF0000"/>
                </a:solidFill>
                <a:latin typeface="Arial" panose="020B0604020202020204"/>
              </a:rPr>
              <a:pPr/>
              <a:t>‹#›</a:t>
            </a:fld>
            <a:endParaRPr lang="en-US" sz="900" b="1">
              <a:solidFill>
                <a:srgbClr val="FF0000"/>
              </a:solidFill>
              <a:latin typeface="Arial" panose="020B0604020202020204"/>
            </a:endParaRPr>
          </a:p>
        </p:txBody>
      </p:sp>
      <p:sp>
        <p:nvSpPr>
          <p:cNvPr id="5" name="Picture Placeholder 4">
            <a:extLst>
              <a:ext uri="{FF2B5EF4-FFF2-40B4-BE49-F238E27FC236}">
                <a16:creationId xmlns:a16="http://schemas.microsoft.com/office/drawing/2014/main" id="{95F9ACDF-A1EB-B142-A58D-56F0B0A4179D}"/>
              </a:ext>
            </a:extLst>
          </p:cNvPr>
          <p:cNvSpPr>
            <a:spLocks noGrp="1"/>
          </p:cNvSpPr>
          <p:nvPr>
            <p:ph type="pic" sz="quarter" idx="10"/>
          </p:nvPr>
        </p:nvSpPr>
        <p:spPr>
          <a:xfrm>
            <a:off x="6272213" y="1520825"/>
            <a:ext cx="5368925" cy="4429125"/>
          </a:xfrm>
        </p:spPr>
        <p:txBody>
          <a:bodyPr/>
          <a:lstStyle>
            <a:lvl1pPr marL="0" indent="0">
              <a:buFont typeface="Arial" panose="020B0604020202020204" pitchFamily="34" charset="0"/>
              <a:buNone/>
              <a:defRPr/>
            </a:lvl1pPr>
          </a:lstStyle>
          <a:p>
            <a:r>
              <a:rPr lang="en-US"/>
              <a:t>Click icon to add picture</a:t>
            </a:r>
            <a:endParaRPr lang="en-GB"/>
          </a:p>
        </p:txBody>
      </p:sp>
      <p:sp>
        <p:nvSpPr>
          <p:cNvPr id="10" name="Text Placeholder 2">
            <a:extLst>
              <a:ext uri="{FF2B5EF4-FFF2-40B4-BE49-F238E27FC236}">
                <a16:creationId xmlns:a16="http://schemas.microsoft.com/office/drawing/2014/main" id="{E835EE2F-DDDF-1445-B5B6-1C10CCF650BA}"/>
              </a:ext>
            </a:extLst>
          </p:cNvPr>
          <p:cNvSpPr>
            <a:spLocks noGrp="1"/>
          </p:cNvSpPr>
          <p:nvPr>
            <p:ph idx="1"/>
          </p:nvPr>
        </p:nvSpPr>
        <p:spPr>
          <a:xfrm>
            <a:off x="554357" y="1532999"/>
            <a:ext cx="5368924" cy="4405838"/>
          </a:xfrm>
          <a:prstGeom prst="rect">
            <a:avLst/>
          </a:prstGeom>
        </p:spPr>
        <p:txBody>
          <a:bodyPr vert="horz" lIns="91440" tIns="45720" rIns="91440" bIns="45720" rtlCol="0">
            <a:normAutofit/>
          </a:bodyPr>
          <a:lstStyle>
            <a:lvl1pPr>
              <a:defRPr sz="1800"/>
            </a:lvl1pPr>
            <a:lvl2pPr>
              <a:defRPr sz="1600"/>
            </a:lvl2pPr>
            <a:lvl3pPr>
              <a:defRPr sz="1400"/>
            </a:lvl3pPr>
            <a:lvl4pPr>
              <a:defRPr sz="1200"/>
            </a:lvl4pPr>
            <a:lvl5pPr>
              <a:defRPr sz="12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30302246"/>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154ED0C-17D3-4609-BB22-C1E044FE286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SG"/>
          </a:p>
        </p:txBody>
      </p:sp>
      <p:sp>
        <p:nvSpPr>
          <p:cNvPr id="3" name="Text Placeholder 2">
            <a:extLst>
              <a:ext uri="{FF2B5EF4-FFF2-40B4-BE49-F238E27FC236}">
                <a16:creationId xmlns:a16="http://schemas.microsoft.com/office/drawing/2014/main" id="{1B38BC04-7A12-4E25-B455-AA05E4D0629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8ECE3911-4A70-4765-9A60-2A68056FB03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CF11BE5-E081-4F26-8918-2AB00FDE6188}" type="datetimeFigureOut">
              <a:rPr lang="en-SG" smtClean="0"/>
              <a:t>4/4/2022</a:t>
            </a:fld>
            <a:endParaRPr lang="en-SG"/>
          </a:p>
        </p:txBody>
      </p:sp>
      <p:sp>
        <p:nvSpPr>
          <p:cNvPr id="5" name="Footer Placeholder 4">
            <a:extLst>
              <a:ext uri="{FF2B5EF4-FFF2-40B4-BE49-F238E27FC236}">
                <a16:creationId xmlns:a16="http://schemas.microsoft.com/office/drawing/2014/main" id="{137D8AF6-E9DA-46E9-89D4-53CBFF1D835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SG"/>
          </a:p>
        </p:txBody>
      </p:sp>
      <p:sp>
        <p:nvSpPr>
          <p:cNvPr id="6" name="Slide Number Placeholder 5">
            <a:extLst>
              <a:ext uri="{FF2B5EF4-FFF2-40B4-BE49-F238E27FC236}">
                <a16:creationId xmlns:a16="http://schemas.microsoft.com/office/drawing/2014/main" id="{9C48E9A2-7FF5-4097-8AF3-76C83E2C7E7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50B3DB8-5B17-4115-A13C-8CC5849A9CF3}" type="slidenum">
              <a:rPr lang="en-SG" smtClean="0"/>
              <a:t>‹#›</a:t>
            </a:fld>
            <a:endParaRPr lang="en-SG"/>
          </a:p>
        </p:txBody>
      </p:sp>
    </p:spTree>
    <p:extLst>
      <p:ext uri="{BB962C8B-B14F-4D97-AF65-F5344CB8AC3E}">
        <p14:creationId xmlns:p14="http://schemas.microsoft.com/office/powerpoint/2010/main" val="2148633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xml"/><Relationship Id="rId3" Type="http://schemas.openxmlformats.org/officeDocument/2006/relationships/diagramData" Target="../diagrams/data1.xml"/><Relationship Id="rId4" Type="http://schemas.openxmlformats.org/officeDocument/2006/relationships/diagramLayout" Target="../diagrams/layout1.xml"/><Relationship Id="rId5" Type="http://schemas.openxmlformats.org/officeDocument/2006/relationships/diagramQuickStyle" Target="../diagrams/quickStyle1.xml"/><Relationship Id="rId6" Type="http://schemas.openxmlformats.org/officeDocument/2006/relationships/diagramColors" Target="../diagrams/colors1.xml"/><Relationship Id="rId7" Type="http://schemas.microsoft.com/office/2007/relationships/diagramDrawing" Target="../diagrams/drawing1.xml"/><Relationship Id="rId8" Type="http://schemas.openxmlformats.org/officeDocument/2006/relationships/diagramData" Target="../diagrams/data2.xml"/><Relationship Id="rId9" Type="http://schemas.openxmlformats.org/officeDocument/2006/relationships/diagramLayout" Target="../diagrams/layout2.xml"/><Relationship Id="rId10" Type="http://schemas.openxmlformats.org/officeDocument/2006/relationships/diagramQuickStyle" Target="../diagrams/quickStyle2.xml"/><Relationship Id="rId11" Type="http://schemas.openxmlformats.org/officeDocument/2006/relationships/diagramColors" Target="../diagrams/colors2.xml"/><Relationship Id="rId12" Type="http://schemas.microsoft.com/office/2007/relationships/diagramDrawing" Target="../diagrams/drawing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Title 12">
            <a:extLst>
              <a:ext uri="{FF2B5EF4-FFF2-40B4-BE49-F238E27FC236}">
                <a16:creationId xmlns:a16="http://schemas.microsoft.com/office/drawing/2014/main" id="{34361E61-FFE0-4448-8E5B-6AB7E42ECCA6}"/>
              </a:ext>
            </a:extLst>
          </p:cNvPr>
          <p:cNvSpPr txBox="1">
            <a:spLocks/>
          </p:cNvSpPr>
          <p:nvPr/>
        </p:nvSpPr>
        <p:spPr>
          <a:xfrm>
            <a:off x="8687187" y="-186856"/>
            <a:ext cx="3690696" cy="76170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b="1" kern="1200">
                <a:solidFill>
                  <a:srgbClr val="FF0000"/>
                </a:solidFill>
                <a:latin typeface="+mj-lt"/>
                <a:ea typeface="Open Sans" panose="020B0606030504020204" pitchFamily="34" charset="0"/>
                <a:cs typeface="Open Sans" panose="020B0606030504020204" pitchFamily="34"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en-US" sz="1600" dirty="0">
                <a:solidFill>
                  <a:schemeClr val="bg1"/>
                </a:solidFill>
                <a:latin typeface="Arial" panose="020B0604020202020204"/>
              </a:rPr>
              <a:t>SPT Calibration &amp; Benchmarking</a:t>
            </a:r>
            <a:endParaRPr kumimoji="0" lang="en-US" sz="1600" i="0" u="none" strike="noStrike" kern="1200" cap="none" spc="0" normalizeH="0" baseline="0" noProof="0" dirty="0">
              <a:ln>
                <a:noFill/>
              </a:ln>
              <a:solidFill>
                <a:schemeClr val="bg1"/>
              </a:solidFill>
              <a:effectLst/>
              <a:uLnTx/>
              <a:uFillTx/>
              <a:latin typeface="Arial" panose="020B0604020202020204"/>
              <a:ea typeface="Open Sans" panose="020B0606030504020204" pitchFamily="34" charset="0"/>
              <a:cs typeface="Open Sans" panose="020B0606030504020204" pitchFamily="34" charset="0"/>
            </a:endParaRPr>
          </a:p>
        </p:txBody>
      </p:sp>
      <p:graphicFrame>
        <p:nvGraphicFramePr>
          <p:cNvPr id="15" name="Table 14"/>
          <p:cNvGraphicFramePr>
            <a:graphicFrameLocks noGrp="1"/>
          </p:cNvGraphicFramePr>
          <p:nvPr>
            <p:extLst>
              <p:ext uri="{D42A27DB-BD31-4B8C-83A1-F6EECF244321}">
                <p14:modId xmlns:p14="http://schemas.microsoft.com/office/powerpoint/2010/main" val="3136801456"/>
              </p:ext>
            </p:extLst>
          </p:nvPr>
        </p:nvGraphicFramePr>
        <p:xfrm>
          <a:off x="305984" y="2788653"/>
          <a:ext cx="11323023" cy="4008120"/>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4558764">
                  <a:extLst>
                    <a:ext uri="{9D8B030D-6E8A-4147-A177-3AD203B41FA5}">
                      <a16:colId xmlns:a16="http://schemas.microsoft.com/office/drawing/2014/main" val="284096917"/>
                    </a:ext>
                  </a:extLst>
                </a:gridCol>
                <a:gridCol w="1165412">
                  <a:extLst>
                    <a:ext uri="{9D8B030D-6E8A-4147-A177-3AD203B41FA5}">
                      <a16:colId xmlns:a16="http://schemas.microsoft.com/office/drawing/2014/main" val="1790786707"/>
                    </a:ext>
                  </a:extLst>
                </a:gridCol>
                <a:gridCol w="5598847">
                  <a:extLst>
                    <a:ext uri="{9D8B030D-6E8A-4147-A177-3AD203B41FA5}">
                      <a16:colId xmlns:a16="http://schemas.microsoft.com/office/drawing/2014/main" val="2015449357"/>
                    </a:ext>
                  </a:extLst>
                </a:gridCol>
              </a:tblGrid>
              <a:tr h="349028">
                <a:tc>
                  <a:txBody>
                    <a:bodyPr wrap="square" lIns="45720" rIns="45720" tIns="27432" bIns="27432"/>
                    <a:lstStyle/>
                    <a:p>
                      <a:pPr algn="ctr"/>
                      <a:r>
                        <a:rPr sz="1100" b="1">
                          <a:solidFill>
                            <a:srgbClr val="FFFFFF"/>
                          </a:solidFill>
                          <a:latin typeface="Arial"/>
                        </a:rPr>
                        <a:t>Material Issues Considered</a:t>
                      </a:r>
                    </a:p>
                  </a:txBody>
                  <a:tcPr anchor="ctr">
                    <a:lnR w="12700" cmpd="sng">
                      <a:noFill/>
                    </a:lnR>
                    <a:solidFill>
                      <a:srgbClr val="C55A1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800" b="1"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wrap="square" lIns="45720" rIns="45720" tIns="27432" bIns="27432"/>
                    <a:lstStyle/>
                    <a:p>
                      <a:pPr algn="ctr"/>
                      <a:r>
                        <a:rPr sz="1100" b="1">
                          <a:solidFill>
                            <a:srgbClr val="FFFFFF"/>
                          </a:solidFill>
                          <a:latin typeface="Arial"/>
                        </a:rPr>
                        <a:t>Potential KPIs</a:t>
                      </a:r>
                    </a:p>
                  </a:txBody>
                  <a:tcPr anchor="ctr">
                    <a:lnL w="12700" cmpd="sng">
                      <a:noFill/>
                    </a:lnL>
                    <a:solidFill>
                      <a:srgbClr val="C55A11"/>
                    </a:solidFill>
                  </a:tcPr>
                </a:tc>
                <a:extLst>
                  <a:ext uri="{0D108BD9-81ED-4DB2-BD59-A6C34878D82A}">
                    <a16:rowId xmlns:a16="http://schemas.microsoft.com/office/drawing/2014/main" val="10000"/>
                  </a:ext>
                </a:extLst>
              </a:tr>
              <a:tr h="494456">
                <a:tc>
                  <a:txBody>
                    <a:bodyPr wrap="square" lIns="45720" rIns="45720" tIns="27432" bIns="27432"/>
                    <a:lstStyle/>
                    <a:p>
                      <a:pPr algn="l"/>
                      <a:r>
                        <a:rPr sz="900" b="0">
                          <a:solidFill>
                            <a:srgbClr val="000000"/>
                          </a:solidFill>
                          <a:latin typeface="Arial"/>
                        </a:rPr>
                        <a:t>Palm Ventures Material Issues, as extracted from sustainability report:</a:t>
                      </a:r>
                    </a:p>
                  </a:txBody>
                  <a:tcPr>
                    <a:lnR w="12700" cmpd="sng">
                      <a:noFill/>
                    </a:lnR>
                    <a:solidFill>
                      <a:srgbClr val="C55A11"/>
                    </a:solidFill>
                  </a:tcPr>
                </a:tc>
                <a:tc>
                  <a:txBody>
                    <a:bodyPr/>
                    <a:lstStyle/>
                    <a:p>
                      <a:endParaRPr lang="en-US" sz="1400" b="1" dirty="0">
                        <a:solidFill>
                          <a:schemeClr val="bg1"/>
                        </a:solidFill>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wrap="square" lIns="45720" rIns="45720" tIns="27432" bIns="27432"/>
                    <a:lstStyle/>
                    <a:p>
                      <a:pPr algn="l"/>
                      <a:r>
                        <a:rPr sz="800" b="0">
                          <a:solidFill>
                            <a:srgbClr val="000000"/>
                          </a:solidFill>
                          <a:latin typeface="Arial"/>
                        </a:rPr>
                        <a:t/>
                      </a:r>
                    </a:p>
                  </a:txBody>
                  <a:tcPr anchor="ctr">
                    <a:lnL w="12700" cmpd="sng">
                      <a:noFill/>
                    </a:lnL>
                    <a:solidFill>
                      <a:schemeClr val="tx1"/>
                    </a:solidFill>
                  </a:tcPr>
                </a:tc>
                <a:extLst>
                  <a:ext uri="{0D108BD9-81ED-4DB2-BD59-A6C34878D82A}">
                    <a16:rowId xmlns:a16="http://schemas.microsoft.com/office/drawing/2014/main" val="1392618525"/>
                  </a:ext>
                </a:extLst>
              </a:tr>
              <a:tr h="479914">
                <a:tc>
                  <a:txBody>
                    <a:bodyPr wrap="square" lIns="45720" rIns="45720" tIns="27432" bIns="27432"/>
                    <a:lstStyle/>
                    <a:p>
                      <a:pPr algn="l"/>
                      <a:r>
                        <a:rPr sz="900" b="0">
                          <a:solidFill>
                            <a:srgbClr val="000000"/>
                          </a:solidFill>
                          <a:latin typeface="Arial"/>
                        </a:rPr>
                        <a:t>1. Sustainable Supply Chain (p.5)</a:t>
                      </a:r>
                    </a:p>
                  </a:txBody>
                  <a:tcPr>
                    <a:lnR w="12700" cmpd="sng">
                      <a:noFill/>
                    </a:lnR>
                    <a:solidFill>
                      <a:srgbClr val="E7E6E6"/>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i="1" dirty="0">
                        <a:solidFill>
                          <a:schemeClr val="tx1"/>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wrap="square" lIns="45720" rIns="45720" tIns="27432" bIns="27432"/>
                    <a:lstStyle/>
                    <a:p>
                      <a:pPr algn="l"/>
                      <a:r>
                        <a:rPr sz="800" b="0">
                          <a:solidFill>
                            <a:srgbClr val="000000"/>
                          </a:solidFill>
                          <a:latin typeface="Arial"/>
                        </a:rPr>
                        <a:t>Increase in suppliers with/adopting NDPE Policies (%)
YoY% increase in traceability to plantation/mill level</a:t>
                      </a:r>
                    </a:p>
                  </a:txBody>
                  <a:tcPr>
                    <a:lnL w="12700" cmpd="sng">
                      <a:noFill/>
                    </a:lnL>
                    <a:solidFill>
                      <a:srgbClr val="E7E6E6"/>
                    </a:solidFill>
                  </a:tcPr>
                </a:tc>
                <a:extLst>
                  <a:ext uri="{0D108BD9-81ED-4DB2-BD59-A6C34878D82A}">
                    <a16:rowId xmlns:a16="http://schemas.microsoft.com/office/drawing/2014/main" val="419692175"/>
                  </a:ext>
                </a:extLst>
              </a:tr>
              <a:tr h="290857">
                <a:tc>
                  <a:txBody>
                    <a:bodyPr wrap="square" lIns="45720" rIns="45720" tIns="27432" bIns="27432"/>
                    <a:lstStyle/>
                    <a:p>
                      <a:pPr algn="l"/>
                      <a:r>
                        <a:rPr sz="900" b="0">
                          <a:solidFill>
                            <a:srgbClr val="000000"/>
                          </a:solidFill>
                          <a:latin typeface="Arial"/>
                        </a:rPr>
                        <a:t>2. Human Rights (p.5)</a:t>
                      </a:r>
                    </a:p>
                  </a:txBody>
                  <a:tcPr>
                    <a:lnR w="12700" cmpd="sng">
                      <a:noFill/>
                    </a:lnR>
                    <a:solidFill>
                      <a:srgbClr val="E7E6E6"/>
                    </a:solidFill>
                  </a:tcPr>
                </a:tc>
                <a:tc>
                  <a:txBody>
                    <a:bodyPr/>
                    <a:lstStyle/>
                    <a:p>
                      <a:endParaRPr lang="en-US" sz="14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wrap="square" lIns="45720" rIns="45720" tIns="27432" bIns="27432"/>
                    <a:lstStyle/>
                    <a:p>
                      <a:pPr algn="l"/>
                      <a:r>
                        <a:rPr sz="800" b="0">
                          <a:solidFill>
                            <a:srgbClr val="000000"/>
                          </a:solidFill>
                          <a:latin typeface="Arial"/>
                        </a:rPr>
                        <a:t>Number of suppliers receiving human rights awareness training (#)
# of Female Senior Management (#)</a:t>
                      </a:r>
                    </a:p>
                  </a:txBody>
                  <a:tcPr>
                    <a:lnL w="12700" cmpd="sng">
                      <a:noFill/>
                    </a:lnL>
                    <a:solidFill>
                      <a:srgbClr val="E7E6E6"/>
                    </a:solidFill>
                  </a:tcPr>
                </a:tc>
                <a:extLst>
                  <a:ext uri="{0D108BD9-81ED-4DB2-BD59-A6C34878D82A}">
                    <a16:rowId xmlns:a16="http://schemas.microsoft.com/office/drawing/2014/main" val="4152890364"/>
                  </a:ext>
                </a:extLst>
              </a:tr>
              <a:tr h="290857">
                <a:tc>
                  <a:txBody>
                    <a:bodyPr wrap="square" lIns="45720" rIns="45720" tIns="27432" bIns="27432"/>
                    <a:lstStyle/>
                    <a:p>
                      <a:pPr algn="l"/>
                      <a:r>
                        <a:rPr sz="900" b="0">
                          <a:solidFill>
                            <a:srgbClr val="000000"/>
                          </a:solidFill>
                          <a:latin typeface="Arial"/>
                        </a:rPr>
                        <a:t>3. Environmental Footprint (p.5)</a:t>
                      </a:r>
                    </a:p>
                  </a:txBody>
                  <a:tcPr>
                    <a:lnR w="12700" cmpd="sng">
                      <a:noFill/>
                    </a:lnR>
                    <a:solidFill>
                      <a:srgbClr val="E7E6E6"/>
                    </a:solidFill>
                  </a:tcPr>
                </a:tc>
                <a:tc>
                  <a:txBody>
                    <a:bodyPr/>
                    <a:lstStyle/>
                    <a:p>
                      <a:endParaRPr lang="en-US" sz="14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wrap="square" lIns="45720" rIns="45720" tIns="27432" bIns="27432"/>
                    <a:lstStyle/>
                    <a:p>
                      <a:pPr algn="l"/>
                      <a:r>
                        <a:rPr sz="800" b="0">
                          <a:solidFill>
                            <a:srgbClr val="000000"/>
                          </a:solidFill>
                          <a:latin typeface="Arial"/>
                        </a:rPr>
                        <a:t>Number of Smallholders Supported (#)
Human rights &amp; community relations</a:t>
                      </a:r>
                    </a:p>
                  </a:txBody>
                  <a:tcPr>
                    <a:lnL w="12700" cmpd="sng">
                      <a:noFill/>
                    </a:lnL>
                    <a:solidFill>
                      <a:srgbClr val="E7E6E6"/>
                    </a:solidFill>
                  </a:tcPr>
                </a:tc>
                <a:extLst>
                  <a:ext uri="{0D108BD9-81ED-4DB2-BD59-A6C34878D82A}">
                    <a16:rowId xmlns:a16="http://schemas.microsoft.com/office/drawing/2014/main" val="87402259"/>
                  </a:ext>
                </a:extLst>
              </a:tr>
              <a:tr h="290857">
                <a:tc>
                  <a:txBody>
                    <a:bodyPr wrap="square" lIns="45720" rIns="45720" tIns="27432" bIns="27432"/>
                    <a:lstStyle/>
                    <a:p>
                      <a:pPr algn="l"/>
                      <a:r>
                        <a:rPr sz="900" b="0">
                          <a:solidFill>
                            <a:srgbClr val="000000"/>
                          </a:solidFill>
                          <a:latin typeface="Arial"/>
                        </a:rPr>
                        <a:t>4. Community Contribution (p.5)</a:t>
                      </a:r>
                    </a:p>
                  </a:txBody>
                  <a:tcPr>
                    <a:lnR w="12700" cmpd="sng">
                      <a:noFill/>
                    </a:lnR>
                    <a:solidFill>
                      <a:srgbClr val="E7E6E6"/>
                    </a:solidFill>
                  </a:tcPr>
                </a:tc>
                <a:tc>
                  <a:txBody>
                    <a:bodyPr/>
                    <a:lstStyle/>
                    <a:p>
                      <a:endParaRPr lang="en-US" sz="14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wrap="square" lIns="45720" rIns="45720" tIns="27432" bIns="27432"/>
                    <a:lstStyle/>
                    <a:p>
                      <a:pPr algn="l"/>
                      <a:r>
                        <a:rPr sz="800" b="0">
                          <a:solidFill>
                            <a:srgbClr val="000000"/>
                          </a:solidFill>
                          <a:latin typeface="Arial"/>
                        </a:rPr>
                        <a:t>YoY% reduction in GHG emissions (absolute or intensity)
Number of Mills With Methane Capture Facilities (#)</a:t>
                      </a:r>
                    </a:p>
                  </a:txBody>
                  <a:tcPr>
                    <a:lnL w="12700" cmpd="sng">
                      <a:noFill/>
                    </a:lnL>
                    <a:solidFill>
                      <a:srgbClr val="E7E6E6"/>
                    </a:solidFill>
                  </a:tcPr>
                </a:tc>
                <a:extLst>
                  <a:ext uri="{0D108BD9-81ED-4DB2-BD59-A6C34878D82A}">
                    <a16:rowId xmlns:a16="http://schemas.microsoft.com/office/drawing/2014/main" val="1879541549"/>
                  </a:ext>
                </a:extLst>
              </a:tr>
              <a:tr h="494456">
                <a:tc>
                  <a:txBody>
                    <a:bodyPr wrap="square" lIns="45720" rIns="45720" tIns="27432" bIns="27432"/>
                    <a:lstStyle/>
                    <a:p>
                      <a:pPr algn="l"/>
                      <a:r>
                        <a:rPr sz="900" b="0">
                          <a:solidFill>
                            <a:srgbClr val="000000"/>
                          </a:solidFill>
                          <a:latin typeface="Arial"/>
                        </a:rPr>
                        <a:t>Other material issues/categories considered based on industry benchmarking:</a:t>
                      </a:r>
                    </a:p>
                  </a:txBody>
                  <a:tcPr>
                    <a:lnR w="12700" cmpd="sng">
                      <a:noFill/>
                    </a:lnR>
                    <a:solidFill>
                      <a:srgbClr val="C55A11"/>
                    </a:solidFill>
                  </a:tcPr>
                </a:tc>
                <a:tc>
                  <a:txBody>
                    <a:bodyPr/>
                    <a:lstStyle/>
                    <a:p>
                      <a:endParaRPr lang="en-US" sz="1400" b="1" dirty="0">
                        <a:solidFill>
                          <a:schemeClr val="bg1"/>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wrap="square" lIns="45720" rIns="45720" tIns="27432" bIns="27432"/>
                    <a:lstStyle/>
                    <a:p>
                      <a:pPr algn="l"/>
                      <a:r>
                        <a:rPr sz="800" b="0">
                          <a:solidFill>
                            <a:srgbClr val="000000"/>
                          </a:solidFill>
                          <a:latin typeface="Arial"/>
                        </a:rPr>
                        <a:t/>
                      </a:r>
                    </a:p>
                  </a:txBody>
                  <a:tcPr>
                    <a:lnL w="12700" cmpd="sng">
                      <a:noFill/>
                    </a:lnL>
                    <a:solidFill>
                      <a:schemeClr val="tx1"/>
                    </a:solidFill>
                  </a:tcPr>
                </a:tc>
                <a:extLst>
                  <a:ext uri="{0D108BD9-81ED-4DB2-BD59-A6C34878D82A}">
                    <a16:rowId xmlns:a16="http://schemas.microsoft.com/office/drawing/2014/main" val="485123847"/>
                  </a:ext>
                </a:extLst>
              </a:tr>
              <a:tr h="290857">
                <a:tc>
                  <a:txBody>
                    <a:bodyPr wrap="square" lIns="45720" rIns="45720" tIns="27432" bIns="27432"/>
                    <a:lstStyle/>
                    <a:p>
                      <a:pPr algn="l"/>
                      <a:r>
                        <a:rPr sz="900" b="0">
                          <a:solidFill>
                            <a:srgbClr val="000000"/>
                          </a:solidFill>
                          <a:latin typeface="Arial"/>
                        </a:rPr>
                        <a:t>1. Deforestation / land-use change</a:t>
                      </a:r>
                    </a:p>
                  </a:txBody>
                  <a:tcPr>
                    <a:lnR w="12700" cmpd="sng">
                      <a:noFill/>
                    </a:lnR>
                    <a:solidFill>
                      <a:srgbClr val="E7E6E6"/>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kern="1200" dirty="0">
                        <a:solidFill>
                          <a:schemeClr val="dk1"/>
                        </a:solidFill>
                        <a:effectLst/>
                        <a:latin typeface="+mn-lt"/>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wrap="square" lIns="45720" rIns="45720" tIns="27432" bIns="27432"/>
                    <a:lstStyle/>
                    <a:p>
                      <a:pPr algn="l"/>
                      <a:r>
                        <a:rPr sz="800" b="0">
                          <a:solidFill>
                            <a:srgbClr val="000000"/>
                          </a:solidFill>
                          <a:latin typeface="Arial"/>
                        </a:rPr>
                        <a:t>Percentage of Planting Areas RSPO certified (%)</a:t>
                      </a:r>
                    </a:p>
                  </a:txBody>
                  <a:tcPr>
                    <a:lnL w="12700" cmpd="sng">
                      <a:noFill/>
                    </a:lnL>
                    <a:solidFill>
                      <a:srgbClr val="E7E6E6"/>
                    </a:solidFill>
                  </a:tcPr>
                </a:tc>
                <a:extLst>
                  <a:ext uri="{0D108BD9-81ED-4DB2-BD59-A6C34878D82A}">
                    <a16:rowId xmlns:a16="http://schemas.microsoft.com/office/drawing/2014/main" val="346994628"/>
                  </a:ext>
                </a:extLst>
              </a:tr>
              <a:tr h="290857">
                <a:tc>
                  <a:txBody>
                    <a:bodyPr wrap="square" lIns="45720" rIns="45720" tIns="27432" bIns="27432"/>
                    <a:lstStyle/>
                    <a:p>
                      <a:pPr algn="l"/>
                      <a:r>
                        <a:rPr sz="900" b="0">
                          <a:solidFill>
                            <a:srgbClr val="000000"/>
                          </a:solidFill>
                          <a:latin typeface="Arial"/>
                        </a:rPr>
                        <a:t>2. Biodiversity &amp; ecosystem protection</a:t>
                      </a:r>
                    </a:p>
                  </a:txBody>
                  <a:tcPr>
                    <a:lnR w="12700" cmpd="sng">
                      <a:noFill/>
                    </a:lnR>
                    <a:solidFill>
                      <a:srgbClr val="E7E6E6"/>
                    </a:solidFill>
                  </a:tcPr>
                </a:tc>
                <a:tc>
                  <a:txBody>
                    <a:bodyPr/>
                    <a:lstStyle/>
                    <a:p>
                      <a:endParaRPr lang="en-US" sz="14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wrap="square" lIns="45720" rIns="45720" tIns="27432" bIns="27432"/>
                    <a:lstStyle/>
                    <a:p>
                      <a:pPr algn="l"/>
                      <a:r>
                        <a:rPr sz="800" b="0">
                          <a:solidFill>
                            <a:srgbClr val="000000"/>
                          </a:solidFill>
                          <a:latin typeface="Arial"/>
                        </a:rPr>
                        <a:t>Improvements in conservation and protection of biodiversity</a:t>
                      </a:r>
                    </a:p>
                  </a:txBody>
                  <a:tcPr>
                    <a:lnL w="12700" cmpd="sng">
                      <a:noFill/>
                    </a:lnL>
                    <a:solidFill>
                      <a:srgbClr val="E7E6E6"/>
                    </a:solidFill>
                  </a:tcPr>
                </a:tc>
                <a:extLst>
                  <a:ext uri="{0D108BD9-81ED-4DB2-BD59-A6C34878D82A}">
                    <a16:rowId xmlns:a16="http://schemas.microsoft.com/office/drawing/2014/main" val="2902334314"/>
                  </a:ext>
                </a:extLst>
              </a:tr>
              <a:tr h="290857">
                <a:tc>
                  <a:txBody>
                    <a:bodyPr wrap="square" lIns="45720" rIns="45720" tIns="27432" bIns="27432"/>
                    <a:lstStyle/>
                    <a:p>
                      <a:pPr algn="l"/>
                      <a:r>
                        <a:rPr sz="900" b="0">
                          <a:solidFill>
                            <a:srgbClr val="000000"/>
                          </a:solidFill>
                          <a:latin typeface="Arial"/>
                        </a:rPr>
                        <a:t>3. Climate change / GHG emissions</a:t>
                      </a:r>
                    </a:p>
                  </a:txBody>
                  <a:tcPr>
                    <a:lnR w="12700" cmpd="sng">
                      <a:noFill/>
                    </a:lnR>
                    <a:solidFill>
                      <a:srgbClr val="E7E6E6"/>
                    </a:solidFill>
                  </a:tcPr>
                </a:tc>
                <a:tc>
                  <a:txBody>
                    <a:bodyPr/>
                    <a:lstStyle/>
                    <a:p>
                      <a:endParaRPr lang="en-US" sz="14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wrap="square" lIns="45720" rIns="45720" tIns="27432" bIns="27432"/>
                    <a:lstStyle/>
                    <a:p>
                      <a:pPr algn="l"/>
                      <a:r>
                        <a:rPr sz="800" b="0">
                          <a:solidFill>
                            <a:srgbClr val="000000"/>
                          </a:solidFill>
                          <a:latin typeface="Arial"/>
                        </a:rPr>
                        <a:t>YoY% reduction in GHG emissions (absolute or intensity)</a:t>
                      </a:r>
                    </a:p>
                  </a:txBody>
                  <a:tcPr>
                    <a:lnL w="12700" cmpd="sng">
                      <a:noFill/>
                    </a:lnL>
                    <a:solidFill>
                      <a:srgbClr val="E7E6E6"/>
                    </a:solidFill>
                  </a:tcPr>
                </a:tc>
                <a:extLst>
                  <a:ext uri="{0D108BD9-81ED-4DB2-BD59-A6C34878D82A}">
                    <a16:rowId xmlns:a16="http://schemas.microsoft.com/office/drawing/2014/main" val="10009"/>
                  </a:ext>
                </a:extLst>
              </a:tr>
              <a:tr h="263483">
                <a:tc>
                  <a:txBody>
                    <a:bodyPr/>
                    <a:lstStyle/>
                    <a:p>
                      <a:r>
                        <a:rPr lang="en-US" sz="1200" dirty="0"/>
                        <a:t>…</a:t>
                      </a:r>
                    </a:p>
                  </a:txBody>
                  <a:tcPr>
                    <a:lnR w="12700" cmpd="sng">
                      <a:noFill/>
                    </a:lnR>
                    <a:solidFill>
                      <a:srgbClr val="E7E6E6"/>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50" i="1" kern="1200" dirty="0">
                        <a:solidFill>
                          <a:schemeClr val="dk1"/>
                        </a:solidFill>
                        <a:effectLst/>
                        <a:latin typeface="+mn-lt"/>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900" i="1" kern="1200" dirty="0">
                        <a:solidFill>
                          <a:schemeClr val="dk1"/>
                        </a:solidFill>
                        <a:effectLst/>
                        <a:latin typeface="+mn-lt"/>
                        <a:ea typeface="+mn-ea"/>
                        <a:cs typeface="+mn-cs"/>
                      </a:endParaRPr>
                    </a:p>
                  </a:txBody>
                  <a:tcPr>
                    <a:lnL w="12700" cmpd="sng">
                      <a:noFill/>
                    </a:lnL>
                    <a:solidFill>
                      <a:srgbClr val="E7E6E6"/>
                    </a:solidFill>
                  </a:tcPr>
                </a:tc>
                <a:extLst>
                  <a:ext uri="{0D108BD9-81ED-4DB2-BD59-A6C34878D82A}">
                    <a16:rowId xmlns:a16="http://schemas.microsoft.com/office/drawing/2014/main" val="10010"/>
                  </a:ext>
                </a:extLst>
              </a:tr>
            </a:tbl>
          </a:graphicData>
        </a:graphic>
      </p:graphicFrame>
      <p:sp>
        <p:nvSpPr>
          <p:cNvPr id="16" name="Isosceles Triangle 15">
            <a:extLst>
              <a:ext uri="{FF2B5EF4-FFF2-40B4-BE49-F238E27FC236}">
                <a16:creationId xmlns:a16="http://schemas.microsoft.com/office/drawing/2014/main" id="{291DCAF4-A244-4017-964A-42EF064A71FC}"/>
              </a:ext>
            </a:extLst>
          </p:cNvPr>
          <p:cNvSpPr/>
          <p:nvPr/>
        </p:nvSpPr>
        <p:spPr>
          <a:xfrm rot="5400000">
            <a:off x="4544163" y="4675038"/>
            <a:ext cx="1943098" cy="329864"/>
          </a:xfrm>
          <a:prstGeom prst="triangle">
            <a:avLst/>
          </a:prstGeom>
          <a:ln/>
        </p:spPr>
        <p:style>
          <a:lnRef idx="0">
            <a:schemeClr val="accent3"/>
          </a:lnRef>
          <a:fillRef idx="3">
            <a:schemeClr val="accent3"/>
          </a:fillRef>
          <a:effectRef idx="3">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 name="TextBox 2"/>
          <p:cNvSpPr txBox="1"/>
          <p:nvPr/>
        </p:nvSpPr>
        <p:spPr>
          <a:xfrm>
            <a:off x="254941" y="443119"/>
            <a:ext cx="11757765" cy="1200329"/>
          </a:xfrm>
          <a:prstGeom prst="rect">
            <a:avLst/>
          </a:prstGeom>
          <a:noFill/>
        </p:spPr>
        <p:txBody>
          <a:bodyPr wrap="square" rtlCol="0">
            <a:spAutoFit/>
          </a:bodyPr>
          <a:lstStyle/>
          <a:p>
            <a:pPr algn="l"/>
            <a:r>
              <a:rPr sz="900" b="0">
                <a:solidFill>
                  <a:srgbClr val="DC0000"/>
                </a:solidFill>
                <a:latin typeface="Arial"/>
              </a:rPr>
              <a:t>Instruction: The Sustainability-Linked Loan Principles (SLLP) describes Sustainability-Linked Loans (SLLs) as a facility that looks to improve the borrower’s sustainability profile over the term of the loan. It is intended to complement and enhance a borrower’s existing sustainability strategy by aligning loan terms to the borrower’s performance which is measured using one or more sustainability KPIs.
From careful assessment of Palm Ventures’ Sustainability Report, the KPI list and relevant desktop research, identify ESG issues that are material to Palm Ventures and suggest KPIs that can measure meaningful sustainability progress.</a:t>
            </a:r>
          </a:p>
        </p:txBody>
      </p:sp>
      <p:grpSp>
        <p:nvGrpSpPr>
          <p:cNvPr id="8" name="Group 7">
            <a:extLst>
              <a:ext uri="{FF2B5EF4-FFF2-40B4-BE49-F238E27FC236}">
                <a16:creationId xmlns:a16="http://schemas.microsoft.com/office/drawing/2014/main" id="{4CCAA840-B3A6-4E83-A32F-60F04AB6FC4E}"/>
              </a:ext>
            </a:extLst>
          </p:cNvPr>
          <p:cNvGrpSpPr/>
          <p:nvPr/>
        </p:nvGrpSpPr>
        <p:grpSpPr>
          <a:xfrm>
            <a:off x="305984" y="1646951"/>
            <a:ext cx="11382984" cy="1014496"/>
            <a:chOff x="424279" y="760139"/>
            <a:chExt cx="11382984" cy="1014496"/>
          </a:xfrm>
        </p:grpSpPr>
        <p:sp>
          <p:nvSpPr>
            <p:cNvPr id="9" name="TextBox 8">
              <a:extLst>
                <a:ext uri="{FF2B5EF4-FFF2-40B4-BE49-F238E27FC236}">
                  <a16:creationId xmlns:a16="http://schemas.microsoft.com/office/drawing/2014/main" id="{779E8665-7DA2-4350-B0E0-41CDE9D2221B}"/>
                </a:ext>
              </a:extLst>
            </p:cNvPr>
            <p:cNvSpPr txBox="1"/>
            <p:nvPr/>
          </p:nvSpPr>
          <p:spPr>
            <a:xfrm>
              <a:off x="424279" y="1052775"/>
              <a:ext cx="11368235" cy="721860"/>
            </a:xfrm>
            <a:prstGeom prst="rect">
              <a:avLst/>
            </a:prstGeom>
            <a:solidFill>
              <a:schemeClr val="bg2"/>
            </a:solidFill>
            <a:effectLst>
              <a:outerShdw blurRad="50800" dist="38100" dir="2700000" algn="tl" rotWithShape="0">
                <a:prstClr val="black">
                  <a:alpha val="40000"/>
                </a:prstClr>
              </a:outerShdw>
            </a:effectLst>
          </p:spPr>
          <p:style>
            <a:lnRef idx="0">
              <a:schemeClr val="accent2"/>
            </a:lnRef>
            <a:fillRef idx="3">
              <a:schemeClr val="accent2"/>
            </a:fillRef>
            <a:effectRef idx="3">
              <a:schemeClr val="accent2"/>
            </a:effectRef>
            <a:fontRef idx="minor">
              <a:schemeClr val="lt1"/>
            </a:fontRef>
          </p:style>
          <p:txBody>
            <a:bodyPr wrap="square" rtlCol="0">
              <a:noAutofit/>
            </a:bodyPr>
            <a:lstStyle/>
            <a:p>
              <a:pPr algn="l">
                <a:defRPr/>
              </a:pPr>
              <a:r>
                <a:rPr sz="1000" b="0">
                  <a:solidFill>
                    <a:srgbClr val="000000"/>
                  </a:solidFill>
                  <a:latin typeface="Arial"/>
                </a:rPr>
                <a:t>Background: Oil palm cultivation, harvesting and processing of Fresh Fruit Bunches, production of Palm Kernel, Palm Kernel Shell, Crude Palm Oil and Crude Palm Kernel Oil, plus palm-oil trading.</a:t>
              </a:r>
            </a:p>
          </p:txBody>
        </p:sp>
        <p:sp>
          <p:nvSpPr>
            <p:cNvPr id="10" name="TextBox 9">
              <a:extLst>
                <a:ext uri="{FF2B5EF4-FFF2-40B4-BE49-F238E27FC236}">
                  <a16:creationId xmlns:a16="http://schemas.microsoft.com/office/drawing/2014/main" id="{304CCDCD-B743-4C2A-860F-4DDB2BB0A2B8}"/>
                </a:ext>
              </a:extLst>
            </p:cNvPr>
            <p:cNvSpPr txBox="1"/>
            <p:nvPr/>
          </p:nvSpPr>
          <p:spPr>
            <a:xfrm>
              <a:off x="429282" y="760139"/>
              <a:ext cx="11377981" cy="307777"/>
            </a:xfrm>
            <a:prstGeom prst="rect">
              <a:avLst/>
            </a:prstGeom>
            <a:solidFill>
              <a:srgbClr val="C55A11"/>
            </a:solidFill>
            <a:effectLst>
              <a:outerShdw blurRad="50800" dist="38100" dir="2700000" algn="tl" rotWithShape="0">
                <a:prstClr val="black">
                  <a:alpha val="40000"/>
                </a:prstClr>
              </a:outerShdw>
            </a:effectLst>
          </p:spPr>
          <p:txBody>
            <a:bodyPr wrap="square" rtlCol="0">
              <a:spAutoFit/>
            </a:bodyPr>
            <a:lstStyle/>
            <a:p>
              <a:r>
                <a:rPr lang="en-US" sz="1400" b="1" dirty="0">
                  <a:solidFill>
                    <a:schemeClr val="bg1"/>
                  </a:solidFill>
                  <a:latin typeface="Arial" panose="020B0604020202020204" pitchFamily="34" charset="0"/>
                  <a:cs typeface="Arial" panose="020B0604020202020204" pitchFamily="34" charset="0"/>
                </a:rPr>
                <a:t>Company Background</a:t>
              </a:r>
            </a:p>
          </p:txBody>
        </p:sp>
      </p:grpSp>
      <p:sp>
        <p:nvSpPr>
          <p:cNvPr id="12" name="Rectangle 11">
            <a:extLst>
              <a:ext uri="{FF2B5EF4-FFF2-40B4-BE49-F238E27FC236}">
                <a16:creationId xmlns:a16="http://schemas.microsoft.com/office/drawing/2014/main" id="{C443124C-77B5-44C0-8769-AA5370A33BA9}"/>
              </a:ext>
            </a:extLst>
          </p:cNvPr>
          <p:cNvSpPr/>
          <p:nvPr/>
        </p:nvSpPr>
        <p:spPr>
          <a:xfrm>
            <a:off x="4921250" y="0"/>
            <a:ext cx="7261936" cy="379057"/>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3" name="Rectangle 12">
            <a:extLst>
              <a:ext uri="{FF2B5EF4-FFF2-40B4-BE49-F238E27FC236}">
                <a16:creationId xmlns:a16="http://schemas.microsoft.com/office/drawing/2014/main" id="{AD0AFBB2-9AD9-4A2F-B70E-8958A365C318}"/>
              </a:ext>
            </a:extLst>
          </p:cNvPr>
          <p:cNvSpPr/>
          <p:nvPr/>
        </p:nvSpPr>
        <p:spPr>
          <a:xfrm>
            <a:off x="8814" y="1"/>
            <a:ext cx="8208042" cy="37904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Title 12">
            <a:extLst>
              <a:ext uri="{FF2B5EF4-FFF2-40B4-BE49-F238E27FC236}">
                <a16:creationId xmlns:a16="http://schemas.microsoft.com/office/drawing/2014/main" id="{1B669473-1F53-40D8-8F5A-409BBC434A2B}"/>
              </a:ext>
            </a:extLst>
          </p:cNvPr>
          <p:cNvSpPr txBox="1">
            <a:spLocks/>
          </p:cNvSpPr>
          <p:nvPr/>
        </p:nvSpPr>
        <p:spPr>
          <a:xfrm>
            <a:off x="8495265" y="-186856"/>
            <a:ext cx="3882618" cy="76170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b="1" kern="1200">
                <a:solidFill>
                  <a:srgbClr val="FF0000"/>
                </a:solidFill>
                <a:latin typeface="+mj-lt"/>
                <a:ea typeface="Open Sans" panose="020B0606030504020204" pitchFamily="34" charset="0"/>
                <a:cs typeface="Open Sans" panose="020B0606030504020204" pitchFamily="34" charset="0"/>
              </a:defRPr>
            </a:lvl1pPr>
          </a:lstStyle>
          <a:p>
            <a:pPr lvl="0">
              <a:defRPr/>
            </a:pPr>
            <a:r>
              <a:rPr lang="en-US" sz="1600" dirty="0">
                <a:solidFill>
                  <a:schemeClr val="bg1"/>
                </a:solidFill>
                <a:latin typeface="Arial" panose="020B0604020202020204"/>
              </a:rPr>
              <a:t>③ SPT Calibration &amp; Benchmarking</a:t>
            </a:r>
            <a:endParaRPr kumimoji="0" lang="en-US" sz="1600" i="0" u="none" strike="noStrike" kern="1200" cap="none" spc="0" normalizeH="0" baseline="0" noProof="0" dirty="0">
              <a:ln>
                <a:noFill/>
              </a:ln>
              <a:solidFill>
                <a:schemeClr val="bg1"/>
              </a:solidFill>
              <a:effectLst/>
              <a:uLnTx/>
              <a:uFillTx/>
              <a:latin typeface="Arial" panose="020B0604020202020204"/>
              <a:ea typeface="Open Sans" panose="020B0606030504020204" pitchFamily="34" charset="0"/>
              <a:cs typeface="Open Sans" panose="020B0606030504020204" pitchFamily="34" charset="0"/>
            </a:endParaRPr>
          </a:p>
        </p:txBody>
      </p:sp>
      <p:sp>
        <p:nvSpPr>
          <p:cNvPr id="17" name="Rectangle 16">
            <a:extLst>
              <a:ext uri="{FF2B5EF4-FFF2-40B4-BE49-F238E27FC236}">
                <a16:creationId xmlns:a16="http://schemas.microsoft.com/office/drawing/2014/main" id="{5EF7B7C0-1850-4F55-8BF6-D6B987547BEC}"/>
              </a:ext>
            </a:extLst>
          </p:cNvPr>
          <p:cNvSpPr/>
          <p:nvPr/>
        </p:nvSpPr>
        <p:spPr>
          <a:xfrm>
            <a:off x="-1" y="0"/>
            <a:ext cx="4738990" cy="37905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0940BE84-F37A-4C12-A1C3-791F7D7999BC}"/>
              </a:ext>
            </a:extLst>
          </p:cNvPr>
          <p:cNvSpPr txBox="1"/>
          <p:nvPr/>
        </p:nvSpPr>
        <p:spPr>
          <a:xfrm>
            <a:off x="41139" y="24719"/>
            <a:ext cx="4853124" cy="307777"/>
          </a:xfrm>
          <a:prstGeom prst="rect">
            <a:avLst/>
          </a:prstGeom>
          <a:noFill/>
        </p:spPr>
        <p:txBody>
          <a:bodyPr wrap="square">
            <a:spAutoFit/>
          </a:bodyPr>
          <a:lstStyle/>
          <a:p>
            <a:r>
              <a:rPr lang="en-SG" sz="1400" b="1" dirty="0">
                <a:solidFill>
                  <a:schemeClr val="bg1"/>
                </a:solidFill>
                <a:latin typeface="Arial"/>
                <a:cs typeface="Arial"/>
              </a:rPr>
              <a:t>① Palm Ventures’ Material Issues &amp; Potential KPI</a:t>
            </a:r>
            <a:endParaRPr lang="en-US" sz="1400" dirty="0"/>
          </a:p>
        </p:txBody>
      </p:sp>
      <p:sp>
        <p:nvSpPr>
          <p:cNvPr id="19" name="Title 1">
            <a:extLst>
              <a:ext uri="{FF2B5EF4-FFF2-40B4-BE49-F238E27FC236}">
                <a16:creationId xmlns:a16="http://schemas.microsoft.com/office/drawing/2014/main" id="{90CC49E1-A74A-4B52-8B0B-B7FD8AEEF01A}"/>
              </a:ext>
            </a:extLst>
          </p:cNvPr>
          <p:cNvSpPr txBox="1">
            <a:spLocks/>
          </p:cNvSpPr>
          <p:nvPr/>
        </p:nvSpPr>
        <p:spPr>
          <a:xfrm>
            <a:off x="5223317" y="59347"/>
            <a:ext cx="2898189" cy="303925"/>
          </a:xfrm>
          <a:prstGeom prst="rect">
            <a:avLst/>
          </a:prstGeom>
          <a:ln w="19050">
            <a:noFill/>
          </a:ln>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lvl="0" algn="l">
              <a:defRPr/>
            </a:pPr>
            <a:r>
              <a:rPr lang="en-US" sz="1600" b="1" dirty="0">
                <a:solidFill>
                  <a:schemeClr val="bg1"/>
                </a:solidFill>
                <a:latin typeface="Arial" panose="020B0604020202020204"/>
              </a:rPr>
              <a:t>② KPI Selection</a:t>
            </a:r>
            <a:endParaRPr kumimoji="0" lang="en-US" sz="1600" b="1" i="0" u="none" strike="noStrike" kern="1200" cap="none" spc="0" normalizeH="0" baseline="0" noProof="0" dirty="0">
              <a:ln>
                <a:noFill/>
              </a:ln>
              <a:solidFill>
                <a:schemeClr val="bg1"/>
              </a:solidFill>
              <a:effectLst/>
              <a:uLnTx/>
              <a:uFillTx/>
              <a:latin typeface="Arial" panose="020B0604020202020204"/>
              <a:ea typeface="Open Sans" panose="020B0606030504020204" pitchFamily="34" charset="0"/>
              <a:cs typeface="Open Sans" panose="020B0606030504020204" pitchFamily="34" charset="0"/>
            </a:endParaRPr>
          </a:p>
        </p:txBody>
      </p:sp>
      <p:sp>
        <p:nvSpPr>
          <p:cNvPr id="21" name="Isosceles Triangle 20">
            <a:extLst>
              <a:ext uri="{FF2B5EF4-FFF2-40B4-BE49-F238E27FC236}">
                <a16:creationId xmlns:a16="http://schemas.microsoft.com/office/drawing/2014/main" id="{0AD9E893-74E5-4DCE-8FE2-3AC5185076FB}"/>
              </a:ext>
            </a:extLst>
          </p:cNvPr>
          <p:cNvSpPr/>
          <p:nvPr/>
        </p:nvSpPr>
        <p:spPr>
          <a:xfrm rot="5400000">
            <a:off x="8165149" y="51653"/>
            <a:ext cx="379048" cy="275634"/>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D92A3614-2DE9-4A21-8940-99273D01939B}"/>
              </a:ext>
            </a:extLst>
          </p:cNvPr>
          <p:cNvSpPr/>
          <p:nvPr/>
        </p:nvSpPr>
        <p:spPr>
          <a:xfrm>
            <a:off x="4738989" y="-54"/>
            <a:ext cx="7467855" cy="383306"/>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Isosceles Triangle 19">
            <a:extLst>
              <a:ext uri="{FF2B5EF4-FFF2-40B4-BE49-F238E27FC236}">
                <a16:creationId xmlns:a16="http://schemas.microsoft.com/office/drawing/2014/main" id="{BBCDADFB-FDE7-4BAB-B490-3FC52028E4B8}"/>
              </a:ext>
            </a:extLst>
          </p:cNvPr>
          <p:cNvSpPr/>
          <p:nvPr/>
        </p:nvSpPr>
        <p:spPr>
          <a:xfrm rot="5400000">
            <a:off x="4700497" y="38492"/>
            <a:ext cx="379051" cy="302067"/>
          </a:xfrm>
          <a:prstGeom prst="triangle">
            <a:avLst>
              <a:gd name="adj" fmla="val 50000"/>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TextBox 57"/>
          <p:cNvSpPr txBox="1"/>
          <p:nvPr/>
        </p:nvSpPr>
        <p:spPr>
          <a:xfrm>
            <a:off x="320040" y="1673352"/>
            <a:ext cx="10058400" cy="292608"/>
          </a:xfrm>
          <a:prstGeom prst="rect">
            <a:avLst/>
          </a:prstGeom>
          <a:noFill/>
        </p:spPr>
        <p:txBody>
          <a:bodyPr wrap="square">
            <a:spAutoFit/>
          </a:bodyPr>
          <a:lstStyle/>
          <a:p>
            <a:r>
              <a:rPr sz="900" b="0">
                <a:solidFill>
                  <a:srgbClr val="000000"/>
                </a:solidFill>
                <a:latin typeface="Arial"/>
              </a:rPr>
              <a:t>Background: Oil palm cultivation, harvesting and processing of Fresh Fruit Bunches; production and trading of palm oil products.</a:t>
            </a:r>
          </a:p>
        </p:txBody>
      </p:sp>
      <p:sp>
        <p:nvSpPr>
          <p:cNvPr id="59" name="TextBox 58"/>
          <p:cNvSpPr txBox="1"/>
          <p:nvPr/>
        </p:nvSpPr>
        <p:spPr>
          <a:xfrm>
            <a:off x="320040" y="1947672"/>
            <a:ext cx="10058400" cy="274320"/>
          </a:xfrm>
          <a:prstGeom prst="rect">
            <a:avLst/>
          </a:prstGeom>
          <a:noFill/>
        </p:spPr>
        <p:txBody>
          <a:bodyPr wrap="square">
            <a:spAutoFit/>
          </a:bodyPr>
          <a:lstStyle/>
          <a:p>
            <a:r>
              <a:rPr sz="900" b="0">
                <a:solidFill>
                  <a:srgbClr val="000000"/>
                </a:solidFill>
                <a:latin typeface="Arial"/>
              </a:rPr>
              <a:t>Overview: USD 200.0bn revenue; 140,000 hectares planted; 18 mills; 21 refineries; 30,000 employees; 33,000 smallholders supported.</a:t>
            </a:r>
          </a:p>
        </p:txBody>
      </p:sp>
      <p:sp>
        <p:nvSpPr>
          <p:cNvPr id="60" name="TextBox 59"/>
          <p:cNvSpPr txBox="1"/>
          <p:nvPr/>
        </p:nvSpPr>
        <p:spPr>
          <a:xfrm>
            <a:off x="320040" y="2185416"/>
            <a:ext cx="10058400" cy="274320"/>
          </a:xfrm>
          <a:prstGeom prst="rect">
            <a:avLst/>
          </a:prstGeom>
          <a:noFill/>
        </p:spPr>
        <p:txBody>
          <a:bodyPr wrap="square">
            <a:spAutoFit/>
          </a:bodyPr>
          <a:lstStyle/>
          <a:p>
            <a:r>
              <a:rPr sz="900" b="0">
                <a:solidFill>
                  <a:srgbClr val="000000"/>
                </a:solidFill>
                <a:latin typeface="Arial"/>
              </a:rPr>
              <a:t>Key Areas of ESG Focus: Sustainable supply chain, human rights, environmental footprint, community contribution, waste &amp; effluents, energy efficiency, training and safety.</a:t>
            </a:r>
          </a:p>
        </p:txBody>
      </p:sp>
    </p:spTree>
    <p:extLst>
      <p:ext uri="{BB962C8B-B14F-4D97-AF65-F5344CB8AC3E}">
        <p14:creationId xmlns:p14="http://schemas.microsoft.com/office/powerpoint/2010/main" val="35699339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327922" y="1172859"/>
            <a:ext cx="6348886" cy="338554"/>
          </a:xfrm>
          <a:prstGeom prst="rect">
            <a:avLst/>
          </a:prstGeom>
          <a:solidFill>
            <a:srgbClr val="002060"/>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chemeClr val="bg1"/>
                </a:solidFill>
                <a:effectLst/>
                <a:uLnTx/>
                <a:uFillTx/>
                <a:latin typeface="Arial" panose="020B0604020202020204"/>
                <a:ea typeface="+mn-ea"/>
                <a:cs typeface="+mn-cs"/>
              </a:rPr>
              <a:t>Selected KPIs for SLL</a:t>
            </a:r>
          </a:p>
        </p:txBody>
      </p:sp>
      <p:sp>
        <p:nvSpPr>
          <p:cNvPr id="28" name="Isosceles Triangle 27"/>
          <p:cNvSpPr/>
          <p:nvPr/>
        </p:nvSpPr>
        <p:spPr>
          <a:xfrm rot="5400000">
            <a:off x="4038907" y="3702671"/>
            <a:ext cx="1943098" cy="329864"/>
          </a:xfrm>
          <a:prstGeom prst="triangle">
            <a:avLst/>
          </a:prstGeom>
          <a:ln/>
        </p:spPr>
        <p:style>
          <a:lnRef idx="0">
            <a:schemeClr val="accent3"/>
          </a:lnRef>
          <a:fillRef idx="3">
            <a:schemeClr val="accent3"/>
          </a:fillRef>
          <a:effectRef idx="3">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Arial" panose="020B0604020202020204"/>
              <a:ea typeface="+mn-ea"/>
              <a:cs typeface="+mn-cs"/>
            </a:endParaRPr>
          </a:p>
        </p:txBody>
      </p:sp>
      <p:graphicFrame>
        <p:nvGraphicFramePr>
          <p:cNvPr id="8" name="Diagram 7">
            <a:extLst>
              <a:ext uri="{FF2B5EF4-FFF2-40B4-BE49-F238E27FC236}">
                <a16:creationId xmlns:a16="http://schemas.microsoft.com/office/drawing/2014/main" id="{E56947A9-A6ED-47C9-A2E7-E63FFF18E80B}"/>
              </a:ext>
            </a:extLst>
          </p:cNvPr>
          <p:cNvGraphicFramePr/>
          <p:nvPr>
            <p:extLst>
              <p:ext uri="{D42A27DB-BD31-4B8C-83A1-F6EECF244321}">
                <p14:modId xmlns:p14="http://schemas.microsoft.com/office/powerpoint/2010/main" val="974095671"/>
              </p:ext>
            </p:extLst>
          </p:nvPr>
        </p:nvGraphicFramePr>
        <p:xfrm>
          <a:off x="5327922" y="2121157"/>
          <a:ext cx="6281500" cy="408790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3" name="Title 12">
            <a:extLst>
              <a:ext uri="{FF2B5EF4-FFF2-40B4-BE49-F238E27FC236}">
                <a16:creationId xmlns:a16="http://schemas.microsoft.com/office/drawing/2014/main" id="{7F62AC6E-494A-424D-AEE3-629EE2106E27}"/>
              </a:ext>
            </a:extLst>
          </p:cNvPr>
          <p:cNvSpPr txBox="1">
            <a:spLocks/>
          </p:cNvSpPr>
          <p:nvPr/>
        </p:nvSpPr>
        <p:spPr>
          <a:xfrm>
            <a:off x="7682832" y="-570989"/>
            <a:ext cx="4227650" cy="76170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b="1" kern="1200">
                <a:solidFill>
                  <a:srgbClr val="FF0000"/>
                </a:solidFill>
                <a:latin typeface="+mj-lt"/>
                <a:ea typeface="Open Sans" panose="020B0606030504020204" pitchFamily="34" charset="0"/>
                <a:cs typeface="Open Sans" panose="020B0606030504020204" pitchFamily="34"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US" sz="1800" i="0" u="none" strike="noStrike" kern="1200" cap="none" spc="0" normalizeH="0" baseline="0" noProof="0" dirty="0">
              <a:ln>
                <a:noFill/>
              </a:ln>
              <a:solidFill>
                <a:schemeClr val="bg1"/>
              </a:solidFill>
              <a:effectLst/>
              <a:uLnTx/>
              <a:uFillTx/>
              <a:latin typeface="Arial" panose="020B0604020202020204"/>
              <a:ea typeface="Open Sans" panose="020B0606030504020204" pitchFamily="34" charset="0"/>
              <a:cs typeface="Open Sans" panose="020B0606030504020204" pitchFamily="34" charset="0"/>
            </a:endParaRPr>
          </a:p>
        </p:txBody>
      </p:sp>
      <p:sp>
        <p:nvSpPr>
          <p:cNvPr id="19" name="TextBox 18"/>
          <p:cNvSpPr txBox="1"/>
          <p:nvPr/>
        </p:nvSpPr>
        <p:spPr>
          <a:xfrm>
            <a:off x="219083" y="448760"/>
            <a:ext cx="11757764" cy="646331"/>
          </a:xfrm>
          <a:prstGeom prst="rect">
            <a:avLst/>
          </a:prstGeom>
          <a:noFill/>
        </p:spPr>
        <p:txBody>
          <a:bodyPr wrap="square" rtlCol="0">
            <a:spAutoFit/>
          </a:bodyPr>
          <a:lstStyle/>
          <a:p>
            <a:r>
              <a:rPr lang="en-US" sz="1200" i="1" dirty="0">
                <a:solidFill>
                  <a:srgbClr val="FF0000"/>
                </a:solidFill>
              </a:rPr>
              <a:t>Instruction: With the selection principles in mind, narrow down your list of potential KPIs to no more than five KPIs that would be most impactful in the design of a Sustainability-Linked Loan for Palm Ventures, with corresponding justification to support your selection. </a:t>
            </a:r>
          </a:p>
          <a:p>
            <a:r>
              <a:rPr lang="en-US" sz="1200" i="1" dirty="0">
                <a:solidFill>
                  <a:srgbClr val="FF0000"/>
                </a:solidFill>
              </a:rPr>
              <a:t>Note: There is no minimum number of KPI/SPT in a SLL. It is the scale of impact (as guided by the selection principles) that we are looking for. </a:t>
            </a:r>
            <a:endParaRPr lang="en-SG" sz="1200" i="1" dirty="0">
              <a:solidFill>
                <a:srgbClr val="FF0000"/>
              </a:solidFill>
            </a:endParaRPr>
          </a:p>
        </p:txBody>
      </p:sp>
      <p:graphicFrame>
        <p:nvGraphicFramePr>
          <p:cNvPr id="10" name="Diagram 9">
            <a:extLst>
              <a:ext uri="{FF2B5EF4-FFF2-40B4-BE49-F238E27FC236}">
                <a16:creationId xmlns:a16="http://schemas.microsoft.com/office/drawing/2014/main" id="{BC7A1D32-EA0E-455D-AE6D-9B52C36FBD44}"/>
              </a:ext>
            </a:extLst>
          </p:cNvPr>
          <p:cNvGraphicFramePr/>
          <p:nvPr>
            <p:extLst>
              <p:ext uri="{D42A27DB-BD31-4B8C-83A1-F6EECF244321}">
                <p14:modId xmlns:p14="http://schemas.microsoft.com/office/powerpoint/2010/main" val="245624778"/>
              </p:ext>
            </p:extLst>
          </p:nvPr>
        </p:nvGraphicFramePr>
        <p:xfrm>
          <a:off x="765623" y="2044378"/>
          <a:ext cx="3780977" cy="4164686"/>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11" name="TextBox 10"/>
          <p:cNvSpPr txBox="1"/>
          <p:nvPr/>
        </p:nvSpPr>
        <p:spPr>
          <a:xfrm>
            <a:off x="765623" y="1172859"/>
            <a:ext cx="3780977" cy="338554"/>
          </a:xfrm>
          <a:prstGeom prst="rect">
            <a:avLst/>
          </a:prstGeom>
          <a:solidFill>
            <a:srgbClr val="002060"/>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chemeClr val="bg1"/>
                </a:solidFill>
                <a:effectLst/>
                <a:uLnTx/>
                <a:uFillTx/>
                <a:latin typeface="Arial" panose="020B0604020202020204"/>
                <a:ea typeface="+mn-ea"/>
                <a:cs typeface="+mn-cs"/>
              </a:rPr>
              <a:t>Selection Principles</a:t>
            </a:r>
          </a:p>
        </p:txBody>
      </p:sp>
      <p:sp>
        <p:nvSpPr>
          <p:cNvPr id="12" name="TextBox 11"/>
          <p:cNvSpPr txBox="1"/>
          <p:nvPr/>
        </p:nvSpPr>
        <p:spPr>
          <a:xfrm>
            <a:off x="765623" y="1511413"/>
            <a:ext cx="3861241" cy="646331"/>
          </a:xfrm>
          <a:prstGeom prst="rect">
            <a:avLst/>
          </a:prstGeom>
          <a:noFill/>
        </p:spPr>
        <p:txBody>
          <a:bodyPr wrap="square" rtlCol="0">
            <a:spAutoFit/>
          </a:bodyPr>
          <a:lstStyle/>
          <a:p>
            <a:r>
              <a:rPr lang="en-US" dirty="0"/>
              <a:t>The SPTs identified, as measured by predefined KPIs must be: </a:t>
            </a:r>
          </a:p>
        </p:txBody>
      </p:sp>
      <p:sp>
        <p:nvSpPr>
          <p:cNvPr id="13" name="Title 12">
            <a:extLst>
              <a:ext uri="{FF2B5EF4-FFF2-40B4-BE49-F238E27FC236}">
                <a16:creationId xmlns:a16="http://schemas.microsoft.com/office/drawing/2014/main" id="{8BCD45BF-475C-420A-B115-74BBA78BDCBF}"/>
              </a:ext>
            </a:extLst>
          </p:cNvPr>
          <p:cNvSpPr txBox="1">
            <a:spLocks/>
          </p:cNvSpPr>
          <p:nvPr/>
        </p:nvSpPr>
        <p:spPr>
          <a:xfrm>
            <a:off x="8552218" y="-191328"/>
            <a:ext cx="4227650" cy="76170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b="1" kern="1200">
                <a:solidFill>
                  <a:srgbClr val="FF0000"/>
                </a:solidFill>
                <a:latin typeface="+mj-lt"/>
                <a:ea typeface="Open Sans" panose="020B0606030504020204" pitchFamily="34" charset="0"/>
                <a:cs typeface="Open Sans" panose="020B0606030504020204" pitchFamily="34"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en-US" sz="1800" dirty="0">
                <a:solidFill>
                  <a:schemeClr val="bg1"/>
                </a:solidFill>
                <a:latin typeface="Arial" panose="020B0604020202020204"/>
              </a:rPr>
              <a:t>SPT Selection &amp; Benchmarking</a:t>
            </a:r>
            <a:endParaRPr kumimoji="0" lang="en-US" sz="1800" i="0" u="none" strike="noStrike" kern="1200" cap="none" spc="0" normalizeH="0" baseline="0" noProof="0" dirty="0">
              <a:ln>
                <a:noFill/>
              </a:ln>
              <a:solidFill>
                <a:schemeClr val="bg1"/>
              </a:solidFill>
              <a:effectLst/>
              <a:uLnTx/>
              <a:uFillTx/>
              <a:latin typeface="Arial" panose="020B0604020202020204"/>
              <a:ea typeface="Open Sans" panose="020B0606030504020204" pitchFamily="34" charset="0"/>
              <a:cs typeface="Open Sans" panose="020B0606030504020204" pitchFamily="34" charset="0"/>
            </a:endParaRPr>
          </a:p>
        </p:txBody>
      </p:sp>
      <p:sp>
        <p:nvSpPr>
          <p:cNvPr id="14" name="Title 12">
            <a:extLst>
              <a:ext uri="{FF2B5EF4-FFF2-40B4-BE49-F238E27FC236}">
                <a16:creationId xmlns:a16="http://schemas.microsoft.com/office/drawing/2014/main" id="{AF89E742-AE11-4F3F-BC90-C95E451D0A14}"/>
              </a:ext>
            </a:extLst>
          </p:cNvPr>
          <p:cNvSpPr txBox="1">
            <a:spLocks/>
          </p:cNvSpPr>
          <p:nvPr/>
        </p:nvSpPr>
        <p:spPr>
          <a:xfrm>
            <a:off x="7747000" y="-191326"/>
            <a:ext cx="4227650" cy="76170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b="1" kern="1200">
                <a:solidFill>
                  <a:srgbClr val="FF0000"/>
                </a:solidFill>
                <a:latin typeface="+mj-lt"/>
                <a:ea typeface="Open Sans" panose="020B0606030504020204" pitchFamily="34" charset="0"/>
                <a:cs typeface="Open Sans" panose="020B0606030504020204" pitchFamily="34"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US" sz="1800" i="0" u="none" strike="noStrike" kern="1200" cap="none" spc="0" normalizeH="0" baseline="0" noProof="0" dirty="0">
              <a:ln>
                <a:noFill/>
              </a:ln>
              <a:solidFill>
                <a:schemeClr val="bg1"/>
              </a:solidFill>
              <a:effectLst/>
              <a:uLnTx/>
              <a:uFillTx/>
              <a:latin typeface="Arial" panose="020B0604020202020204"/>
              <a:ea typeface="Open Sans" panose="020B0606030504020204" pitchFamily="34" charset="0"/>
              <a:cs typeface="Open Sans" panose="020B0606030504020204" pitchFamily="34" charset="0"/>
            </a:endParaRPr>
          </a:p>
        </p:txBody>
      </p:sp>
      <p:sp>
        <p:nvSpPr>
          <p:cNvPr id="15" name="Rectangle 14">
            <a:extLst>
              <a:ext uri="{FF2B5EF4-FFF2-40B4-BE49-F238E27FC236}">
                <a16:creationId xmlns:a16="http://schemas.microsoft.com/office/drawing/2014/main" id="{C443124C-77B5-44C0-8769-AA5370A33BA9}"/>
              </a:ext>
            </a:extLst>
          </p:cNvPr>
          <p:cNvSpPr/>
          <p:nvPr/>
        </p:nvSpPr>
        <p:spPr>
          <a:xfrm>
            <a:off x="4921250" y="0"/>
            <a:ext cx="7261936" cy="379057"/>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6" name="Rectangle 15">
            <a:extLst>
              <a:ext uri="{FF2B5EF4-FFF2-40B4-BE49-F238E27FC236}">
                <a16:creationId xmlns:a16="http://schemas.microsoft.com/office/drawing/2014/main" id="{AD0AFBB2-9AD9-4A2F-B70E-8958A365C318}"/>
              </a:ext>
            </a:extLst>
          </p:cNvPr>
          <p:cNvSpPr/>
          <p:nvPr/>
        </p:nvSpPr>
        <p:spPr>
          <a:xfrm>
            <a:off x="8814" y="1"/>
            <a:ext cx="8205267" cy="37904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5EF7B7C0-1850-4F55-8BF6-D6B987547BEC}"/>
              </a:ext>
            </a:extLst>
          </p:cNvPr>
          <p:cNvSpPr/>
          <p:nvPr/>
        </p:nvSpPr>
        <p:spPr>
          <a:xfrm>
            <a:off x="-1" y="0"/>
            <a:ext cx="4738990" cy="37905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0940BE84-F37A-4C12-A1C3-791F7D7999BC}"/>
              </a:ext>
            </a:extLst>
          </p:cNvPr>
          <p:cNvSpPr txBox="1"/>
          <p:nvPr/>
        </p:nvSpPr>
        <p:spPr>
          <a:xfrm>
            <a:off x="41139" y="24719"/>
            <a:ext cx="4853124" cy="307777"/>
          </a:xfrm>
          <a:prstGeom prst="rect">
            <a:avLst/>
          </a:prstGeom>
          <a:noFill/>
        </p:spPr>
        <p:txBody>
          <a:bodyPr wrap="square">
            <a:spAutoFit/>
          </a:bodyPr>
          <a:lstStyle/>
          <a:p>
            <a:r>
              <a:rPr lang="en-SG" sz="1400" b="1" dirty="0">
                <a:solidFill>
                  <a:schemeClr val="bg1"/>
                </a:solidFill>
                <a:latin typeface="Arial"/>
                <a:cs typeface="Arial"/>
              </a:rPr>
              <a:t>① Palm Ventures’ Material Issues &amp; Potential KPI</a:t>
            </a:r>
            <a:endParaRPr lang="en-US" sz="1400" dirty="0"/>
          </a:p>
        </p:txBody>
      </p:sp>
      <p:sp>
        <p:nvSpPr>
          <p:cNvPr id="20" name="Title 1">
            <a:extLst>
              <a:ext uri="{FF2B5EF4-FFF2-40B4-BE49-F238E27FC236}">
                <a16:creationId xmlns:a16="http://schemas.microsoft.com/office/drawing/2014/main" id="{90CC49E1-A74A-4B52-8B0B-B7FD8AEEF01A}"/>
              </a:ext>
            </a:extLst>
          </p:cNvPr>
          <p:cNvSpPr txBox="1">
            <a:spLocks/>
          </p:cNvSpPr>
          <p:nvPr/>
        </p:nvSpPr>
        <p:spPr>
          <a:xfrm>
            <a:off x="5223317" y="59347"/>
            <a:ext cx="2898189" cy="303925"/>
          </a:xfrm>
          <a:prstGeom prst="rect">
            <a:avLst/>
          </a:prstGeom>
          <a:ln w="19050">
            <a:noFill/>
          </a:ln>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lvl="0" algn="l">
              <a:defRPr/>
            </a:pPr>
            <a:r>
              <a:rPr lang="en-US" sz="1600" b="1" dirty="0">
                <a:solidFill>
                  <a:schemeClr val="bg1"/>
                </a:solidFill>
                <a:latin typeface="Arial" panose="020B0604020202020204"/>
              </a:rPr>
              <a:t>② KPI Selection</a:t>
            </a:r>
            <a:endParaRPr kumimoji="0" lang="en-US" sz="1600" b="1" i="0" u="none" strike="noStrike" kern="1200" cap="none" spc="0" normalizeH="0" baseline="0" noProof="0" dirty="0">
              <a:ln>
                <a:noFill/>
              </a:ln>
              <a:solidFill>
                <a:schemeClr val="bg1"/>
              </a:solidFill>
              <a:effectLst/>
              <a:uLnTx/>
              <a:uFillTx/>
              <a:latin typeface="Arial" panose="020B0604020202020204"/>
              <a:ea typeface="Open Sans" panose="020B0606030504020204" pitchFamily="34" charset="0"/>
              <a:cs typeface="Open Sans" panose="020B0606030504020204" pitchFamily="34" charset="0"/>
            </a:endParaRPr>
          </a:p>
        </p:txBody>
      </p:sp>
      <p:sp>
        <p:nvSpPr>
          <p:cNvPr id="21" name="Isosceles Triangle 20">
            <a:extLst>
              <a:ext uri="{FF2B5EF4-FFF2-40B4-BE49-F238E27FC236}">
                <a16:creationId xmlns:a16="http://schemas.microsoft.com/office/drawing/2014/main" id="{BBCDADFB-FDE7-4BAB-B490-3FC52028E4B8}"/>
              </a:ext>
            </a:extLst>
          </p:cNvPr>
          <p:cNvSpPr/>
          <p:nvPr/>
        </p:nvSpPr>
        <p:spPr>
          <a:xfrm rot="5400000">
            <a:off x="4700497" y="38492"/>
            <a:ext cx="379051" cy="302067"/>
          </a:xfrm>
          <a:prstGeom prst="triangle">
            <a:avLst>
              <a:gd name="adj" fmla="val 50000"/>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Isosceles Triangle 22">
            <a:extLst>
              <a:ext uri="{FF2B5EF4-FFF2-40B4-BE49-F238E27FC236}">
                <a16:creationId xmlns:a16="http://schemas.microsoft.com/office/drawing/2014/main" id="{38D09D82-8274-4AE7-8E07-5652D86FCB4E}"/>
              </a:ext>
            </a:extLst>
          </p:cNvPr>
          <p:cNvSpPr/>
          <p:nvPr/>
        </p:nvSpPr>
        <p:spPr>
          <a:xfrm rot="5400000">
            <a:off x="4706709" y="25596"/>
            <a:ext cx="382291" cy="324504"/>
          </a:xfrm>
          <a:prstGeom prst="triangle">
            <a:avLst>
              <a:gd name="adj" fmla="val 50000"/>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D92A3614-2DE9-4A21-8940-99273D01939B}"/>
              </a:ext>
            </a:extLst>
          </p:cNvPr>
          <p:cNvSpPr/>
          <p:nvPr/>
        </p:nvSpPr>
        <p:spPr>
          <a:xfrm>
            <a:off x="8214081" y="-6286"/>
            <a:ext cx="3969106" cy="419467"/>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D92A3614-2DE9-4A21-8940-99273D01939B}"/>
              </a:ext>
            </a:extLst>
          </p:cNvPr>
          <p:cNvSpPr/>
          <p:nvPr/>
        </p:nvSpPr>
        <p:spPr>
          <a:xfrm>
            <a:off x="-1" y="-15738"/>
            <a:ext cx="4736215" cy="419467"/>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itle 12">
            <a:extLst>
              <a:ext uri="{FF2B5EF4-FFF2-40B4-BE49-F238E27FC236}">
                <a16:creationId xmlns:a16="http://schemas.microsoft.com/office/drawing/2014/main" id="{1B669473-1F53-40D8-8F5A-409BBC434A2B}"/>
              </a:ext>
            </a:extLst>
          </p:cNvPr>
          <p:cNvSpPr txBox="1">
            <a:spLocks/>
          </p:cNvSpPr>
          <p:nvPr/>
        </p:nvSpPr>
        <p:spPr>
          <a:xfrm>
            <a:off x="8495265" y="-186856"/>
            <a:ext cx="3882618" cy="76170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b="1" kern="1200">
                <a:solidFill>
                  <a:srgbClr val="FF0000"/>
                </a:solidFill>
                <a:latin typeface="+mj-lt"/>
                <a:ea typeface="Open Sans" panose="020B0606030504020204" pitchFamily="34" charset="0"/>
                <a:cs typeface="Open Sans" panose="020B0606030504020204" pitchFamily="34" charset="0"/>
              </a:defRPr>
            </a:lvl1pPr>
          </a:lstStyle>
          <a:p>
            <a:pPr lvl="0">
              <a:defRPr/>
            </a:pPr>
            <a:r>
              <a:rPr lang="en-US" sz="1600" dirty="0">
                <a:solidFill>
                  <a:schemeClr val="bg1"/>
                </a:solidFill>
                <a:latin typeface="Arial" panose="020B0604020202020204"/>
              </a:rPr>
              <a:t>③ SPT Calibration &amp; Benchmarking</a:t>
            </a:r>
            <a:endParaRPr kumimoji="0" lang="en-US" sz="1600" i="0" u="none" strike="noStrike" kern="1200" cap="none" spc="0" normalizeH="0" baseline="0" noProof="0" dirty="0">
              <a:ln>
                <a:noFill/>
              </a:ln>
              <a:solidFill>
                <a:schemeClr val="bg1"/>
              </a:solidFill>
              <a:effectLst/>
              <a:uLnTx/>
              <a:uFillTx/>
              <a:latin typeface="Arial" panose="020B0604020202020204"/>
              <a:ea typeface="Open Sans" panose="020B0606030504020204" pitchFamily="34" charset="0"/>
              <a:cs typeface="Open Sans" panose="020B0606030504020204" pitchFamily="34" charset="0"/>
            </a:endParaRPr>
          </a:p>
        </p:txBody>
      </p:sp>
      <p:sp>
        <p:nvSpPr>
          <p:cNvPr id="22" name="Isosceles Triangle 21">
            <a:extLst>
              <a:ext uri="{FF2B5EF4-FFF2-40B4-BE49-F238E27FC236}">
                <a16:creationId xmlns:a16="http://schemas.microsoft.com/office/drawing/2014/main" id="{0AD9E893-74E5-4DCE-8FE2-3AC5185076FB}"/>
              </a:ext>
            </a:extLst>
          </p:cNvPr>
          <p:cNvSpPr/>
          <p:nvPr/>
        </p:nvSpPr>
        <p:spPr>
          <a:xfrm rot="5400000">
            <a:off x="8163762" y="50265"/>
            <a:ext cx="379048" cy="278409"/>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ounded Rectangle 43"/>
          <p:cNvSpPr/>
          <p:nvPr/>
        </p:nvSpPr>
        <p:spPr>
          <a:xfrm>
            <a:off x="4572000" y="2103120"/>
            <a:ext cx="5577840" cy="621792"/>
          </a:xfrm>
          <a:prstGeom prst="roundRect">
            <a:avLst/>
          </a:prstGeom>
          <a:solidFill>
            <a:srgbClr val="4B78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ounded Rectangle 44"/>
          <p:cNvSpPr/>
          <p:nvPr/>
        </p:nvSpPr>
        <p:spPr>
          <a:xfrm>
            <a:off x="4572000" y="2889504"/>
            <a:ext cx="5577840" cy="621792"/>
          </a:xfrm>
          <a:prstGeom prst="roundRect">
            <a:avLst/>
          </a:prstGeom>
          <a:solidFill>
            <a:srgbClr val="4B78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ounded Rectangle 45"/>
          <p:cNvSpPr/>
          <p:nvPr/>
        </p:nvSpPr>
        <p:spPr>
          <a:xfrm>
            <a:off x="4572000" y="3675887"/>
            <a:ext cx="5577840" cy="621792"/>
          </a:xfrm>
          <a:prstGeom prst="roundRect">
            <a:avLst/>
          </a:prstGeom>
          <a:solidFill>
            <a:srgbClr val="4B78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ounded Rectangle 46"/>
          <p:cNvSpPr/>
          <p:nvPr/>
        </p:nvSpPr>
        <p:spPr>
          <a:xfrm>
            <a:off x="4572000" y="4462272"/>
            <a:ext cx="5577840" cy="621792"/>
          </a:xfrm>
          <a:prstGeom prst="roundRect">
            <a:avLst/>
          </a:prstGeom>
          <a:solidFill>
            <a:srgbClr val="4B78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ounded Rectangle 47"/>
          <p:cNvSpPr/>
          <p:nvPr/>
        </p:nvSpPr>
        <p:spPr>
          <a:xfrm>
            <a:off x="4572000" y="5248656"/>
            <a:ext cx="5577840" cy="621792"/>
          </a:xfrm>
          <a:prstGeom prst="roundRect">
            <a:avLst/>
          </a:prstGeom>
          <a:solidFill>
            <a:srgbClr val="4B78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645152" y="2176272"/>
            <a:ext cx="5394960" cy="457200"/>
          </a:xfrm>
          <a:prstGeom prst="rect">
            <a:avLst/>
          </a:prstGeom>
          <a:noFill/>
        </p:spPr>
        <p:txBody>
          <a:bodyPr wrap="square">
            <a:spAutoFit/>
          </a:bodyPr>
          <a:lstStyle/>
          <a:p>
            <a:pPr algn="l"/>
            <a:r>
              <a:rPr sz="1200" b="1">
                <a:solidFill>
                  <a:srgbClr val="FFFFFF"/>
                </a:solidFill>
                <a:latin typeface="Arial"/>
              </a:rPr>
              <a:t>1. Sustainable Supply Chain</a:t>
            </a:r>
          </a:p>
        </p:txBody>
      </p:sp>
      <p:sp>
        <p:nvSpPr>
          <p:cNvPr id="50" name="TextBox 49"/>
          <p:cNvSpPr txBox="1"/>
          <p:nvPr/>
        </p:nvSpPr>
        <p:spPr>
          <a:xfrm>
            <a:off x="4645152" y="2679191"/>
            <a:ext cx="5394960" cy="384048"/>
          </a:xfrm>
          <a:prstGeom prst="rect">
            <a:avLst/>
          </a:prstGeom>
          <a:noFill/>
        </p:spPr>
        <p:txBody>
          <a:bodyPr wrap="square">
            <a:spAutoFit/>
          </a:bodyPr>
          <a:lstStyle/>
          <a:p>
            <a:pPr algn="l"/>
            <a:r>
              <a:rPr sz="900" b="1">
                <a:solidFill>
                  <a:srgbClr val="000000"/>
                </a:solidFill>
                <a:latin typeface="Arial"/>
              </a:rPr>
              <a:t>KPI: % of direct suppliers with NDPE policy</a:t>
            </a:r>
          </a:p>
        </p:txBody>
      </p:sp>
      <p:sp>
        <p:nvSpPr>
          <p:cNvPr id="51" name="TextBox 50"/>
          <p:cNvSpPr txBox="1"/>
          <p:nvPr/>
        </p:nvSpPr>
        <p:spPr>
          <a:xfrm>
            <a:off x="4645152" y="3008376"/>
            <a:ext cx="5394960" cy="475488"/>
          </a:xfrm>
          <a:prstGeom prst="rect">
            <a:avLst/>
          </a:prstGeom>
          <a:noFill/>
        </p:spPr>
        <p:txBody>
          <a:bodyPr wrap="square">
            <a:spAutoFit/>
          </a:bodyPr>
          <a:lstStyle/>
          <a:p>
            <a:pPr algn="l"/>
            <a:r>
              <a:rPr sz="800" b="0">
                <a:solidFill>
                  <a:srgbClr val="000000"/>
                </a:solidFill>
                <a:latin typeface="Arial"/>
              </a:rPr>
              <a:t>Why: Directly linked to Palm Ventures’ highest-priority supply-chain risk; baseline data is already reported and can be checked annually.</a:t>
            </a:r>
          </a:p>
        </p:txBody>
      </p:sp>
      <p:sp>
        <p:nvSpPr>
          <p:cNvPr id="52" name="TextBox 51"/>
          <p:cNvSpPr txBox="1"/>
          <p:nvPr/>
        </p:nvSpPr>
        <p:spPr>
          <a:xfrm>
            <a:off x="4645152" y="2962656"/>
            <a:ext cx="5394960" cy="457200"/>
          </a:xfrm>
          <a:prstGeom prst="rect">
            <a:avLst/>
          </a:prstGeom>
          <a:noFill/>
        </p:spPr>
        <p:txBody>
          <a:bodyPr wrap="square">
            <a:spAutoFit/>
          </a:bodyPr>
          <a:lstStyle/>
          <a:p>
            <a:pPr algn="l"/>
            <a:r>
              <a:rPr sz="1200" b="1">
                <a:solidFill>
                  <a:srgbClr val="FFFFFF"/>
                </a:solidFill>
                <a:latin typeface="Arial"/>
              </a:rPr>
              <a:t>2. Certified Sustainable Palm Oil</a:t>
            </a:r>
          </a:p>
        </p:txBody>
      </p:sp>
      <p:sp>
        <p:nvSpPr>
          <p:cNvPr id="53" name="TextBox 52"/>
          <p:cNvSpPr txBox="1"/>
          <p:nvPr/>
        </p:nvSpPr>
        <p:spPr>
          <a:xfrm>
            <a:off x="4645152" y="3465576"/>
            <a:ext cx="5394960" cy="384048"/>
          </a:xfrm>
          <a:prstGeom prst="rect">
            <a:avLst/>
          </a:prstGeom>
          <a:noFill/>
        </p:spPr>
        <p:txBody>
          <a:bodyPr wrap="square">
            <a:spAutoFit/>
          </a:bodyPr>
          <a:lstStyle/>
          <a:p>
            <a:pPr algn="l"/>
            <a:r>
              <a:rPr sz="900" b="1">
                <a:solidFill>
                  <a:srgbClr val="000000"/>
                </a:solidFill>
                <a:latin typeface="Arial"/>
              </a:rPr>
              <a:t>KPI: % of plantations RSPO certified</a:t>
            </a:r>
          </a:p>
        </p:txBody>
      </p:sp>
      <p:sp>
        <p:nvSpPr>
          <p:cNvPr id="54" name="TextBox 53"/>
          <p:cNvSpPr txBox="1"/>
          <p:nvPr/>
        </p:nvSpPr>
        <p:spPr>
          <a:xfrm>
            <a:off x="4645152" y="3794760"/>
            <a:ext cx="5394960" cy="475488"/>
          </a:xfrm>
          <a:prstGeom prst="rect">
            <a:avLst/>
          </a:prstGeom>
          <a:noFill/>
        </p:spPr>
        <p:txBody>
          <a:bodyPr wrap="square">
            <a:spAutoFit/>
          </a:bodyPr>
          <a:lstStyle/>
          <a:p>
            <a:pPr algn="l"/>
            <a:r>
              <a:rPr sz="800" b="0">
                <a:solidFill>
                  <a:srgbClr val="000000"/>
                </a:solidFill>
                <a:latin typeface="Arial"/>
              </a:rPr>
              <a:t>Why: Palm Ventures already tracks certification. Moving from 63% toward 100% creates a clear, measurable improvement against a recognised industry standard.</a:t>
            </a:r>
          </a:p>
        </p:txBody>
      </p:sp>
      <p:sp>
        <p:nvSpPr>
          <p:cNvPr id="55" name="TextBox 54"/>
          <p:cNvSpPr txBox="1"/>
          <p:nvPr/>
        </p:nvSpPr>
        <p:spPr>
          <a:xfrm>
            <a:off x="4645152" y="3749039"/>
            <a:ext cx="5394960" cy="457200"/>
          </a:xfrm>
          <a:prstGeom prst="rect">
            <a:avLst/>
          </a:prstGeom>
          <a:noFill/>
        </p:spPr>
        <p:txBody>
          <a:bodyPr wrap="square">
            <a:spAutoFit/>
          </a:bodyPr>
          <a:lstStyle/>
          <a:p>
            <a:pPr algn="l"/>
            <a:r>
              <a:rPr sz="1200" b="1">
                <a:solidFill>
                  <a:srgbClr val="FFFFFF"/>
                </a:solidFill>
                <a:latin typeface="Arial"/>
              </a:rPr>
              <a:t>3. Environmental Footprint</a:t>
            </a:r>
          </a:p>
        </p:txBody>
      </p:sp>
      <p:sp>
        <p:nvSpPr>
          <p:cNvPr id="56" name="TextBox 55"/>
          <p:cNvSpPr txBox="1"/>
          <p:nvPr/>
        </p:nvSpPr>
        <p:spPr>
          <a:xfrm>
            <a:off x="4645152" y="4251959"/>
            <a:ext cx="5394960" cy="384048"/>
          </a:xfrm>
          <a:prstGeom prst="rect">
            <a:avLst/>
          </a:prstGeom>
          <a:noFill/>
        </p:spPr>
        <p:txBody>
          <a:bodyPr wrap="square">
            <a:spAutoFit/>
          </a:bodyPr>
          <a:lstStyle/>
          <a:p>
            <a:pPr algn="l"/>
            <a:r>
              <a:rPr sz="900" b="1">
                <a:solidFill>
                  <a:srgbClr val="000000"/>
                </a:solidFill>
                <a:latin typeface="Arial"/>
              </a:rPr>
              <a:t>KPI: Scope 1 + Scope 2 GHG emissions (MT CO2e)</a:t>
            </a:r>
          </a:p>
        </p:txBody>
      </p:sp>
      <p:sp>
        <p:nvSpPr>
          <p:cNvPr id="57" name="TextBox 56"/>
          <p:cNvSpPr txBox="1"/>
          <p:nvPr/>
        </p:nvSpPr>
        <p:spPr>
          <a:xfrm>
            <a:off x="4645152" y="4581144"/>
            <a:ext cx="5394960" cy="475488"/>
          </a:xfrm>
          <a:prstGeom prst="rect">
            <a:avLst/>
          </a:prstGeom>
          <a:noFill/>
        </p:spPr>
        <p:txBody>
          <a:bodyPr wrap="square">
            <a:spAutoFit/>
          </a:bodyPr>
          <a:lstStyle/>
          <a:p>
            <a:pPr algn="l"/>
            <a:r>
              <a:rPr sz="800" b="0">
                <a:solidFill>
                  <a:srgbClr val="000000"/>
                </a:solidFill>
                <a:latin typeface="Arial"/>
              </a:rPr>
              <a:t>Why: GHG emissions are material to plantation and mill operations; Palm Ventures already reports both scopes, making the KPI measurable.</a:t>
            </a:r>
          </a:p>
        </p:txBody>
      </p:sp>
      <p:sp>
        <p:nvSpPr>
          <p:cNvPr id="58" name="TextBox 57"/>
          <p:cNvSpPr txBox="1"/>
          <p:nvPr/>
        </p:nvSpPr>
        <p:spPr>
          <a:xfrm>
            <a:off x="4572000" y="6144768"/>
            <a:ext cx="5577840" cy="411480"/>
          </a:xfrm>
          <a:prstGeom prst="rect">
            <a:avLst/>
          </a:prstGeom>
          <a:noFill/>
        </p:spPr>
        <p:txBody>
          <a:bodyPr wrap="square">
            <a:spAutoFit/>
          </a:bodyPr>
          <a:lstStyle/>
          <a:p>
            <a:pPr algn="l"/>
            <a:r>
              <a:rPr sz="800" b="0">
                <a:solidFill>
                  <a:srgbClr val="505050"/>
                </a:solidFill>
                <a:latin typeface="Arial"/>
              </a:rPr>
              <a:t>Not shortlisted: water/waste, DEI and community KPIs were considered but are less suitable here due to weaker baseline/target calibration or lower direct SLL impact.</a:t>
            </a:r>
          </a:p>
        </p:txBody>
      </p:sp>
      <p:sp>
        <p:nvSpPr>
          <p:cNvPr id="59" name="Rectangle 58"/>
          <p:cNvSpPr/>
          <p:nvPr/>
        </p:nvSpPr>
        <p:spPr>
          <a:xfrm>
            <a:off x="4553712" y="1965960"/>
            <a:ext cx="5623560" cy="45262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ounded Rectangle 59"/>
          <p:cNvSpPr/>
          <p:nvPr/>
        </p:nvSpPr>
        <p:spPr>
          <a:xfrm>
            <a:off x="4617720" y="2084831"/>
            <a:ext cx="5486400" cy="475488"/>
          </a:xfrm>
          <a:prstGeom prst="roundRect">
            <a:avLst/>
          </a:prstGeom>
          <a:solidFill>
            <a:srgbClr val="4B78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4727448" y="2157984"/>
            <a:ext cx="5257800" cy="274320"/>
          </a:xfrm>
          <a:prstGeom prst="rect">
            <a:avLst/>
          </a:prstGeom>
          <a:noFill/>
        </p:spPr>
        <p:txBody>
          <a:bodyPr wrap="square">
            <a:spAutoFit/>
          </a:bodyPr>
          <a:lstStyle/>
          <a:p>
            <a:r>
              <a:rPr sz="1100" b="1">
                <a:solidFill>
                  <a:srgbClr val="FFFFFF"/>
                </a:solidFill>
                <a:latin typeface="Arial"/>
              </a:rPr>
              <a:t>1. Sustainable Supply Chain</a:t>
            </a:r>
          </a:p>
        </p:txBody>
      </p:sp>
      <p:sp>
        <p:nvSpPr>
          <p:cNvPr id="62" name="TextBox 61"/>
          <p:cNvSpPr txBox="1"/>
          <p:nvPr/>
        </p:nvSpPr>
        <p:spPr>
          <a:xfrm>
            <a:off x="4736592" y="2615184"/>
            <a:ext cx="5257800" cy="228600"/>
          </a:xfrm>
          <a:prstGeom prst="rect">
            <a:avLst/>
          </a:prstGeom>
          <a:noFill/>
        </p:spPr>
        <p:txBody>
          <a:bodyPr wrap="square">
            <a:spAutoFit/>
          </a:bodyPr>
          <a:lstStyle/>
          <a:p>
            <a:r>
              <a:rPr sz="850" b="1">
                <a:solidFill>
                  <a:srgbClr val="000000"/>
                </a:solidFill>
                <a:latin typeface="Arial"/>
              </a:rPr>
              <a:t>KPI: % direct suppliers with NDPE policy</a:t>
            </a:r>
          </a:p>
        </p:txBody>
      </p:sp>
      <p:sp>
        <p:nvSpPr>
          <p:cNvPr id="63" name="TextBox 62"/>
          <p:cNvSpPr txBox="1"/>
          <p:nvPr/>
        </p:nvSpPr>
        <p:spPr>
          <a:xfrm>
            <a:off x="4736592" y="2852927"/>
            <a:ext cx="5257800" cy="438912"/>
          </a:xfrm>
          <a:prstGeom prst="rect">
            <a:avLst/>
          </a:prstGeom>
          <a:noFill/>
        </p:spPr>
        <p:txBody>
          <a:bodyPr wrap="square">
            <a:spAutoFit/>
          </a:bodyPr>
          <a:lstStyle/>
          <a:p>
            <a:r>
              <a:rPr sz="730" b="0">
                <a:solidFill>
                  <a:srgbClr val="000000"/>
                </a:solidFill>
                <a:latin typeface="Arial"/>
              </a:rPr>
              <a:t>Materiality: direct link to Palm Ventures’ highest-priority sustainable supply-chain issue.
Additionality: 100% moves the company beyond its 76% 2021 baseline.
Data: already reported and can be reviewed annually.</a:t>
            </a:r>
          </a:p>
        </p:txBody>
      </p:sp>
      <p:sp>
        <p:nvSpPr>
          <p:cNvPr id="64" name="Rounded Rectangle 63"/>
          <p:cNvSpPr/>
          <p:nvPr/>
        </p:nvSpPr>
        <p:spPr>
          <a:xfrm>
            <a:off x="4617720" y="3346704"/>
            <a:ext cx="5486400" cy="475488"/>
          </a:xfrm>
          <a:prstGeom prst="roundRect">
            <a:avLst/>
          </a:prstGeom>
          <a:solidFill>
            <a:srgbClr val="4B78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4727448" y="3419856"/>
            <a:ext cx="5257800" cy="274320"/>
          </a:xfrm>
          <a:prstGeom prst="rect">
            <a:avLst/>
          </a:prstGeom>
          <a:noFill/>
        </p:spPr>
        <p:txBody>
          <a:bodyPr wrap="square">
            <a:spAutoFit/>
          </a:bodyPr>
          <a:lstStyle/>
          <a:p>
            <a:r>
              <a:rPr sz="1100" b="1">
                <a:solidFill>
                  <a:srgbClr val="FFFFFF"/>
                </a:solidFill>
                <a:latin typeface="Arial"/>
              </a:rPr>
              <a:t>2. Certified Sustainable Palm Oil</a:t>
            </a:r>
          </a:p>
        </p:txBody>
      </p:sp>
      <p:sp>
        <p:nvSpPr>
          <p:cNvPr id="66" name="TextBox 65"/>
          <p:cNvSpPr txBox="1"/>
          <p:nvPr/>
        </p:nvSpPr>
        <p:spPr>
          <a:xfrm>
            <a:off x="4736592" y="3877056"/>
            <a:ext cx="5257800" cy="228600"/>
          </a:xfrm>
          <a:prstGeom prst="rect">
            <a:avLst/>
          </a:prstGeom>
          <a:noFill/>
        </p:spPr>
        <p:txBody>
          <a:bodyPr wrap="square">
            <a:spAutoFit/>
          </a:bodyPr>
          <a:lstStyle/>
          <a:p>
            <a:r>
              <a:rPr sz="850" b="1">
                <a:solidFill>
                  <a:srgbClr val="000000"/>
                </a:solidFill>
                <a:latin typeface="Arial"/>
              </a:rPr>
              <a:t>KPI: % plantations RSPO certified</a:t>
            </a:r>
          </a:p>
        </p:txBody>
      </p:sp>
      <p:sp>
        <p:nvSpPr>
          <p:cNvPr id="67" name="TextBox 66"/>
          <p:cNvSpPr txBox="1"/>
          <p:nvPr/>
        </p:nvSpPr>
        <p:spPr>
          <a:xfrm>
            <a:off x="4736592" y="4114800"/>
            <a:ext cx="5257800" cy="438912"/>
          </a:xfrm>
          <a:prstGeom prst="rect">
            <a:avLst/>
          </a:prstGeom>
          <a:noFill/>
        </p:spPr>
        <p:txBody>
          <a:bodyPr wrap="square">
            <a:spAutoFit/>
          </a:bodyPr>
          <a:lstStyle/>
          <a:p>
            <a:r>
              <a:rPr sz="730" b="0">
                <a:solidFill>
                  <a:srgbClr val="000000"/>
                </a:solidFill>
                <a:latin typeface="Arial"/>
              </a:rPr>
              <a:t>Materiality: directly linked to Palm Ventures’ palm-oil production and environmental/social commitments.
Additionality: 63% → 100% is a clear step beyond the current position.
Data: certification status is externally auditable.</a:t>
            </a:r>
          </a:p>
        </p:txBody>
      </p:sp>
      <p:sp>
        <p:nvSpPr>
          <p:cNvPr id="68" name="Rounded Rectangle 67"/>
          <p:cNvSpPr/>
          <p:nvPr/>
        </p:nvSpPr>
        <p:spPr>
          <a:xfrm>
            <a:off x="4617720" y="4608576"/>
            <a:ext cx="5486400" cy="475488"/>
          </a:xfrm>
          <a:prstGeom prst="roundRect">
            <a:avLst/>
          </a:prstGeom>
          <a:solidFill>
            <a:srgbClr val="4B78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4727448" y="4681728"/>
            <a:ext cx="5257800" cy="274320"/>
          </a:xfrm>
          <a:prstGeom prst="rect">
            <a:avLst/>
          </a:prstGeom>
          <a:noFill/>
        </p:spPr>
        <p:txBody>
          <a:bodyPr wrap="square">
            <a:spAutoFit/>
          </a:bodyPr>
          <a:lstStyle/>
          <a:p>
            <a:r>
              <a:rPr sz="1100" b="1">
                <a:solidFill>
                  <a:srgbClr val="FFFFFF"/>
                </a:solidFill>
                <a:latin typeface="Arial"/>
              </a:rPr>
              <a:t>3. Environmental Footprint</a:t>
            </a:r>
          </a:p>
        </p:txBody>
      </p:sp>
      <p:sp>
        <p:nvSpPr>
          <p:cNvPr id="70" name="TextBox 69"/>
          <p:cNvSpPr txBox="1"/>
          <p:nvPr/>
        </p:nvSpPr>
        <p:spPr>
          <a:xfrm>
            <a:off x="4736592" y="5138928"/>
            <a:ext cx="5257800" cy="228600"/>
          </a:xfrm>
          <a:prstGeom prst="rect">
            <a:avLst/>
          </a:prstGeom>
          <a:noFill/>
        </p:spPr>
        <p:txBody>
          <a:bodyPr wrap="square">
            <a:spAutoFit/>
          </a:bodyPr>
          <a:lstStyle/>
          <a:p>
            <a:r>
              <a:rPr sz="850" b="1">
                <a:solidFill>
                  <a:srgbClr val="000000"/>
                </a:solidFill>
                <a:latin typeface="Arial"/>
              </a:rPr>
              <a:t>KPI: Scope 1 + 2 GHG emissions (MT CO2e)</a:t>
            </a:r>
          </a:p>
        </p:txBody>
      </p:sp>
      <p:sp>
        <p:nvSpPr>
          <p:cNvPr id="71" name="TextBox 70"/>
          <p:cNvSpPr txBox="1"/>
          <p:nvPr/>
        </p:nvSpPr>
        <p:spPr>
          <a:xfrm>
            <a:off x="4736592" y="5376672"/>
            <a:ext cx="5257800" cy="438912"/>
          </a:xfrm>
          <a:prstGeom prst="rect">
            <a:avLst/>
          </a:prstGeom>
          <a:noFill/>
        </p:spPr>
        <p:txBody>
          <a:bodyPr wrap="square">
            <a:spAutoFit/>
          </a:bodyPr>
          <a:lstStyle/>
          <a:p>
            <a:r>
              <a:rPr sz="730" b="0">
                <a:solidFill>
                  <a:srgbClr val="000000"/>
                </a:solidFill>
                <a:latin typeface="Arial"/>
              </a:rPr>
              <a:t>Materiality: emissions are directly linked to plantation and mill operations.
Additionality: a faster reduction path strengthens the existing 2025 ambition.
Data: Scope 1 and 2 are already measured and disclosed.</a:t>
            </a:r>
          </a:p>
        </p:txBody>
      </p:sp>
      <p:sp>
        <p:nvSpPr>
          <p:cNvPr id="72" name="TextBox 71"/>
          <p:cNvSpPr txBox="1"/>
          <p:nvPr/>
        </p:nvSpPr>
        <p:spPr>
          <a:xfrm>
            <a:off x="4617720" y="5998464"/>
            <a:ext cx="5486400" cy="384048"/>
          </a:xfrm>
          <a:prstGeom prst="rect">
            <a:avLst/>
          </a:prstGeom>
          <a:noFill/>
        </p:spPr>
        <p:txBody>
          <a:bodyPr wrap="square">
            <a:spAutoFit/>
          </a:bodyPr>
          <a:lstStyle/>
          <a:p>
            <a:r>
              <a:rPr sz="750" b="0">
                <a:solidFill>
                  <a:srgbClr val="505050"/>
                </a:solidFill>
                <a:latin typeface="Arial"/>
              </a:rPr>
              <a:t>Shortlist: 3 KPIs are sufficient because they cover the most material issues while remaining measurable and verifiable.</a:t>
            </a:r>
          </a:p>
        </p:txBody>
      </p:sp>
      <p:sp>
        <p:nvSpPr>
          <p:cNvPr id="73" name="Rectangle 72"/>
          <p:cNvSpPr/>
          <p:nvPr/>
        </p:nvSpPr>
        <p:spPr>
          <a:xfrm>
            <a:off x="4553712" y="1938528"/>
            <a:ext cx="7360920" cy="45262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ounded Rectangle 73"/>
          <p:cNvSpPr/>
          <p:nvPr/>
        </p:nvSpPr>
        <p:spPr>
          <a:xfrm>
            <a:off x="4617720" y="2084831"/>
            <a:ext cx="6537960" cy="475488"/>
          </a:xfrm>
          <a:prstGeom prst="roundRect">
            <a:avLst/>
          </a:prstGeom>
          <a:solidFill>
            <a:srgbClr val="4B78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4727448" y="2157984"/>
            <a:ext cx="6309360" cy="274320"/>
          </a:xfrm>
          <a:prstGeom prst="rect">
            <a:avLst/>
          </a:prstGeom>
          <a:noFill/>
        </p:spPr>
        <p:txBody>
          <a:bodyPr wrap="square">
            <a:spAutoFit/>
          </a:bodyPr>
          <a:lstStyle/>
          <a:p>
            <a:r>
              <a:rPr sz="1100" b="1">
                <a:solidFill>
                  <a:srgbClr val="FFFFFF"/>
                </a:solidFill>
                <a:latin typeface="Arial"/>
              </a:rPr>
              <a:t>1. Sustainable Supply Chain</a:t>
            </a:r>
          </a:p>
        </p:txBody>
      </p:sp>
      <p:sp>
        <p:nvSpPr>
          <p:cNvPr id="76" name="TextBox 75"/>
          <p:cNvSpPr txBox="1"/>
          <p:nvPr/>
        </p:nvSpPr>
        <p:spPr>
          <a:xfrm>
            <a:off x="4736592" y="2615184"/>
            <a:ext cx="6309360" cy="228600"/>
          </a:xfrm>
          <a:prstGeom prst="rect">
            <a:avLst/>
          </a:prstGeom>
          <a:noFill/>
        </p:spPr>
        <p:txBody>
          <a:bodyPr wrap="square">
            <a:spAutoFit/>
          </a:bodyPr>
          <a:lstStyle/>
          <a:p>
            <a:r>
              <a:rPr sz="850" b="1">
                <a:solidFill>
                  <a:srgbClr val="000000"/>
                </a:solidFill>
                <a:latin typeface="Arial"/>
              </a:rPr>
              <a:t>KPI: % direct suppliers with NDPE policy</a:t>
            </a:r>
          </a:p>
        </p:txBody>
      </p:sp>
      <p:sp>
        <p:nvSpPr>
          <p:cNvPr id="77" name="TextBox 76"/>
          <p:cNvSpPr txBox="1"/>
          <p:nvPr/>
        </p:nvSpPr>
        <p:spPr>
          <a:xfrm>
            <a:off x="4736592" y="2852927"/>
            <a:ext cx="6309360" cy="438912"/>
          </a:xfrm>
          <a:prstGeom prst="rect">
            <a:avLst/>
          </a:prstGeom>
          <a:noFill/>
        </p:spPr>
        <p:txBody>
          <a:bodyPr wrap="square">
            <a:spAutoFit/>
          </a:bodyPr>
          <a:lstStyle/>
          <a:p>
            <a:r>
              <a:rPr sz="730" b="0">
                <a:solidFill>
                  <a:srgbClr val="000000"/>
                </a:solidFill>
                <a:latin typeface="Arial"/>
              </a:rPr>
              <a:t>Materiality: directly linked to Palm Ventures’ highest-priority sustainable supply-chain issue.
Additionality: 100% moves the company beyond its 76% 2021 baseline.
Data: already reported and can be reviewed annually.</a:t>
            </a:r>
          </a:p>
        </p:txBody>
      </p:sp>
      <p:sp>
        <p:nvSpPr>
          <p:cNvPr id="78" name="Rounded Rectangle 77"/>
          <p:cNvSpPr/>
          <p:nvPr/>
        </p:nvSpPr>
        <p:spPr>
          <a:xfrm>
            <a:off x="4617720" y="3346704"/>
            <a:ext cx="6537960" cy="475488"/>
          </a:xfrm>
          <a:prstGeom prst="roundRect">
            <a:avLst/>
          </a:prstGeom>
          <a:solidFill>
            <a:srgbClr val="4B78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4727448" y="3419856"/>
            <a:ext cx="6309360" cy="274320"/>
          </a:xfrm>
          <a:prstGeom prst="rect">
            <a:avLst/>
          </a:prstGeom>
          <a:noFill/>
        </p:spPr>
        <p:txBody>
          <a:bodyPr wrap="square">
            <a:spAutoFit/>
          </a:bodyPr>
          <a:lstStyle/>
          <a:p>
            <a:r>
              <a:rPr sz="1100" b="1">
                <a:solidFill>
                  <a:srgbClr val="FFFFFF"/>
                </a:solidFill>
                <a:latin typeface="Arial"/>
              </a:rPr>
              <a:t>2. Certified Sustainable Palm Oil</a:t>
            </a:r>
          </a:p>
        </p:txBody>
      </p:sp>
      <p:sp>
        <p:nvSpPr>
          <p:cNvPr id="80" name="TextBox 79"/>
          <p:cNvSpPr txBox="1"/>
          <p:nvPr/>
        </p:nvSpPr>
        <p:spPr>
          <a:xfrm>
            <a:off x="4736592" y="3877056"/>
            <a:ext cx="6309360" cy="228600"/>
          </a:xfrm>
          <a:prstGeom prst="rect">
            <a:avLst/>
          </a:prstGeom>
          <a:noFill/>
        </p:spPr>
        <p:txBody>
          <a:bodyPr wrap="square">
            <a:spAutoFit/>
          </a:bodyPr>
          <a:lstStyle/>
          <a:p>
            <a:r>
              <a:rPr sz="850" b="1">
                <a:solidFill>
                  <a:srgbClr val="000000"/>
                </a:solidFill>
                <a:latin typeface="Arial"/>
              </a:rPr>
              <a:t>KPI: % plantations RSPO certified</a:t>
            </a:r>
          </a:p>
        </p:txBody>
      </p:sp>
      <p:sp>
        <p:nvSpPr>
          <p:cNvPr id="81" name="TextBox 80"/>
          <p:cNvSpPr txBox="1"/>
          <p:nvPr/>
        </p:nvSpPr>
        <p:spPr>
          <a:xfrm>
            <a:off x="4736592" y="4114800"/>
            <a:ext cx="6309360" cy="438912"/>
          </a:xfrm>
          <a:prstGeom prst="rect">
            <a:avLst/>
          </a:prstGeom>
          <a:noFill/>
        </p:spPr>
        <p:txBody>
          <a:bodyPr wrap="square">
            <a:spAutoFit/>
          </a:bodyPr>
          <a:lstStyle/>
          <a:p>
            <a:r>
              <a:rPr sz="730" b="0">
                <a:solidFill>
                  <a:srgbClr val="000000"/>
                </a:solidFill>
                <a:latin typeface="Arial"/>
              </a:rPr>
              <a:t>Materiality: directly linked to Palm Ventures’ palm-oil production and environmental/social commitments.
Additionality: 63% → 100% is a clear improvement.
Data: certification status is externally auditable.</a:t>
            </a:r>
          </a:p>
        </p:txBody>
      </p:sp>
      <p:sp>
        <p:nvSpPr>
          <p:cNvPr id="82" name="Rounded Rectangle 81"/>
          <p:cNvSpPr/>
          <p:nvPr/>
        </p:nvSpPr>
        <p:spPr>
          <a:xfrm>
            <a:off x="4617720" y="4608576"/>
            <a:ext cx="6537960" cy="475488"/>
          </a:xfrm>
          <a:prstGeom prst="roundRect">
            <a:avLst/>
          </a:prstGeom>
          <a:solidFill>
            <a:srgbClr val="4B78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4727448" y="4681728"/>
            <a:ext cx="6309360" cy="274320"/>
          </a:xfrm>
          <a:prstGeom prst="rect">
            <a:avLst/>
          </a:prstGeom>
          <a:noFill/>
        </p:spPr>
        <p:txBody>
          <a:bodyPr wrap="square">
            <a:spAutoFit/>
          </a:bodyPr>
          <a:lstStyle/>
          <a:p>
            <a:r>
              <a:rPr sz="1100" b="1">
                <a:solidFill>
                  <a:srgbClr val="FFFFFF"/>
                </a:solidFill>
                <a:latin typeface="Arial"/>
              </a:rPr>
              <a:t>3. Environmental Footprint</a:t>
            </a:r>
          </a:p>
        </p:txBody>
      </p:sp>
      <p:sp>
        <p:nvSpPr>
          <p:cNvPr id="84" name="TextBox 83"/>
          <p:cNvSpPr txBox="1"/>
          <p:nvPr/>
        </p:nvSpPr>
        <p:spPr>
          <a:xfrm>
            <a:off x="4736592" y="5138928"/>
            <a:ext cx="6309360" cy="228600"/>
          </a:xfrm>
          <a:prstGeom prst="rect">
            <a:avLst/>
          </a:prstGeom>
          <a:noFill/>
        </p:spPr>
        <p:txBody>
          <a:bodyPr wrap="square">
            <a:spAutoFit/>
          </a:bodyPr>
          <a:lstStyle/>
          <a:p>
            <a:r>
              <a:rPr sz="850" b="1">
                <a:solidFill>
                  <a:srgbClr val="000000"/>
                </a:solidFill>
                <a:latin typeface="Arial"/>
              </a:rPr>
              <a:t>KPI: Scope 1 + 2 GHG emissions (MT CO2e)</a:t>
            </a:r>
          </a:p>
        </p:txBody>
      </p:sp>
      <p:sp>
        <p:nvSpPr>
          <p:cNvPr id="85" name="TextBox 84"/>
          <p:cNvSpPr txBox="1"/>
          <p:nvPr/>
        </p:nvSpPr>
        <p:spPr>
          <a:xfrm>
            <a:off x="4736592" y="5376672"/>
            <a:ext cx="6309360" cy="438912"/>
          </a:xfrm>
          <a:prstGeom prst="rect">
            <a:avLst/>
          </a:prstGeom>
          <a:noFill/>
        </p:spPr>
        <p:txBody>
          <a:bodyPr wrap="square">
            <a:spAutoFit/>
          </a:bodyPr>
          <a:lstStyle/>
          <a:p>
            <a:r>
              <a:rPr sz="730" b="0">
                <a:solidFill>
                  <a:srgbClr val="000000"/>
                </a:solidFill>
                <a:latin typeface="Arial"/>
              </a:rPr>
              <a:t>Materiality: emissions are directly linked to plantation and mill operations.
Additionality: a faster reduction path strengthens the existing 2025 ambition.
Data: Scope 1 and 2 are already measured and disclosed.</a:t>
            </a:r>
          </a:p>
        </p:txBody>
      </p:sp>
      <p:sp>
        <p:nvSpPr>
          <p:cNvPr id="86" name="TextBox 85"/>
          <p:cNvSpPr txBox="1"/>
          <p:nvPr/>
        </p:nvSpPr>
        <p:spPr>
          <a:xfrm>
            <a:off x="4617720" y="5998464"/>
            <a:ext cx="6400800" cy="384048"/>
          </a:xfrm>
          <a:prstGeom prst="rect">
            <a:avLst/>
          </a:prstGeom>
          <a:noFill/>
        </p:spPr>
        <p:txBody>
          <a:bodyPr wrap="square">
            <a:spAutoFit/>
          </a:bodyPr>
          <a:lstStyle/>
          <a:p>
            <a:r>
              <a:rPr sz="750" b="0">
                <a:solidFill>
                  <a:srgbClr val="505050"/>
                </a:solidFill>
                <a:latin typeface="Arial"/>
              </a:rPr>
              <a:t>Shortlist: 3 KPIs are sufficient because they cover the most material issues while remaining measurable and verifiable.</a:t>
            </a:r>
          </a:p>
        </p:txBody>
      </p:sp>
    </p:spTree>
    <p:extLst>
      <p:ext uri="{BB962C8B-B14F-4D97-AF65-F5344CB8AC3E}">
        <p14:creationId xmlns:p14="http://schemas.microsoft.com/office/powerpoint/2010/main" val="19191211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721224C8-5372-4FD6-BD3A-442F027CD5A9}"/>
              </a:ext>
            </a:extLst>
          </p:cNvPr>
          <p:cNvGrpSpPr/>
          <p:nvPr/>
        </p:nvGrpSpPr>
        <p:grpSpPr>
          <a:xfrm>
            <a:off x="370160" y="2120476"/>
            <a:ext cx="11392858" cy="915182"/>
            <a:chOff x="409532" y="2100179"/>
            <a:chExt cx="11397731" cy="915182"/>
          </a:xfrm>
        </p:grpSpPr>
        <p:sp>
          <p:nvSpPr>
            <p:cNvPr id="11" name="TextBox 10">
              <a:extLst>
                <a:ext uri="{FF2B5EF4-FFF2-40B4-BE49-F238E27FC236}">
                  <a16:creationId xmlns:a16="http://schemas.microsoft.com/office/drawing/2014/main" id="{722855AC-E23C-4618-88CF-3A64E2D283DF}"/>
                </a:ext>
              </a:extLst>
            </p:cNvPr>
            <p:cNvSpPr txBox="1"/>
            <p:nvPr/>
          </p:nvSpPr>
          <p:spPr>
            <a:xfrm>
              <a:off x="417821" y="2407956"/>
              <a:ext cx="11381150" cy="607405"/>
            </a:xfrm>
            <a:prstGeom prst="rect">
              <a:avLst/>
            </a:prstGeom>
            <a:solidFill>
              <a:schemeClr val="bg2"/>
            </a:solidFill>
            <a:effectLst>
              <a:outerShdw blurRad="50800" dist="38100" dir="2700000" algn="tl" rotWithShape="0">
                <a:prstClr val="black">
                  <a:alpha val="40000"/>
                </a:prstClr>
              </a:outerShdw>
            </a:effectLst>
          </p:spPr>
          <p:style>
            <a:lnRef idx="0">
              <a:schemeClr val="accent2"/>
            </a:lnRef>
            <a:fillRef idx="3">
              <a:schemeClr val="accent2"/>
            </a:fillRef>
            <a:effectRef idx="3">
              <a:schemeClr val="accent2"/>
            </a:effectRef>
            <a:fontRef idx="minor">
              <a:schemeClr val="lt1"/>
            </a:fontRef>
          </p:style>
          <p:txBody>
            <a:bodyPr wrap="square" rtlCol="0">
              <a:no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sz="900" b="0">
                  <a:solidFill>
                    <a:srgbClr val="000000"/>
                  </a:solidFill>
                  <a:latin typeface="Arial"/>
                </a:rPr>
                <a:t>Key resources considered:
• Palm Ventures 2021 Sustainability Report
• KPI List provided for the simulation
• Sustainability-Linked Loan Principles (SLLP)
• RSPO Principles &amp; Criteria / certification framework
• Science Based Targets initiative (SBTi) guidance for GHG ambition</a:t>
              </a:r>
            </a:p>
          </p:txBody>
        </p:sp>
        <p:sp>
          <p:nvSpPr>
            <p:cNvPr id="2" name="TextBox 1">
              <a:extLst>
                <a:ext uri="{FF2B5EF4-FFF2-40B4-BE49-F238E27FC236}">
                  <a16:creationId xmlns:a16="http://schemas.microsoft.com/office/drawing/2014/main" id="{219DDB76-8B30-436C-83E8-0A4F378DEECD}"/>
                </a:ext>
              </a:extLst>
            </p:cNvPr>
            <p:cNvSpPr txBox="1"/>
            <p:nvPr/>
          </p:nvSpPr>
          <p:spPr>
            <a:xfrm>
              <a:off x="409532" y="2100179"/>
              <a:ext cx="11397731" cy="307777"/>
            </a:xfrm>
            <a:prstGeom prst="rect">
              <a:avLst/>
            </a:prstGeom>
            <a:solidFill>
              <a:srgbClr val="70AD47"/>
            </a:solidFill>
            <a:effectLst>
              <a:outerShdw blurRad="50800" dist="38100" dir="2700000" algn="tl" rotWithShape="0">
                <a:prstClr val="black">
                  <a:alpha val="40000"/>
                </a:prstClr>
              </a:outerShdw>
            </a:effectLst>
          </p:spPr>
          <p:txBody>
            <a:bodyPr wrap="square" rtlCol="0">
              <a:spAutoFit/>
            </a:bodyPr>
            <a:lstStyle/>
            <a:p>
              <a:r>
                <a:rPr kumimoji="0" lang="en-US" sz="1400" b="1" i="0" u="none" strike="noStrike" kern="1200" cap="none" spc="0" normalizeH="0" baseline="0" noProof="0" dirty="0">
                  <a:ln>
                    <a:noFill/>
                  </a:ln>
                  <a:solidFill>
                    <a:schemeClr val="bg1"/>
                  </a:solidFill>
                  <a:effectLst/>
                  <a:uLnTx/>
                  <a:uFillTx/>
                  <a:latin typeface="Arial" panose="020B0604020202020204"/>
                </a:rPr>
                <a:t>Key Considerations </a:t>
              </a:r>
              <a:endParaRPr lang="en-US" sz="1400" b="1" dirty="0">
                <a:solidFill>
                  <a:schemeClr val="bg1"/>
                </a:solidFill>
                <a:latin typeface="Arial" panose="020B0604020202020204" pitchFamily="34" charset="0"/>
                <a:cs typeface="Arial" panose="020B0604020202020204" pitchFamily="34" charset="0"/>
              </a:endParaRPr>
            </a:p>
          </p:txBody>
        </p:sp>
      </p:grpSp>
      <p:graphicFrame>
        <p:nvGraphicFramePr>
          <p:cNvPr id="17" name="Table 17">
            <a:extLst>
              <a:ext uri="{FF2B5EF4-FFF2-40B4-BE49-F238E27FC236}">
                <a16:creationId xmlns:a16="http://schemas.microsoft.com/office/drawing/2014/main" id="{3879A3A8-BB37-40BE-B113-C18475290711}"/>
              </a:ext>
            </a:extLst>
          </p:cNvPr>
          <p:cNvGraphicFramePr>
            <a:graphicFrameLocks noGrp="1"/>
          </p:cNvGraphicFramePr>
          <p:nvPr>
            <p:extLst>
              <p:ext uri="{D42A27DB-BD31-4B8C-83A1-F6EECF244321}">
                <p14:modId xmlns:p14="http://schemas.microsoft.com/office/powerpoint/2010/main" val="2128439257"/>
              </p:ext>
            </p:extLst>
          </p:nvPr>
        </p:nvGraphicFramePr>
        <p:xfrm>
          <a:off x="378444" y="3194149"/>
          <a:ext cx="11384574" cy="2400676"/>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1708866">
                  <a:extLst>
                    <a:ext uri="{9D8B030D-6E8A-4147-A177-3AD203B41FA5}">
                      <a16:colId xmlns:a16="http://schemas.microsoft.com/office/drawing/2014/main" val="3287134674"/>
                    </a:ext>
                  </a:extLst>
                </a:gridCol>
                <a:gridCol w="3119619">
                  <a:extLst>
                    <a:ext uri="{9D8B030D-6E8A-4147-A177-3AD203B41FA5}">
                      <a16:colId xmlns:a16="http://schemas.microsoft.com/office/drawing/2014/main" val="4156951653"/>
                    </a:ext>
                  </a:extLst>
                </a:gridCol>
                <a:gridCol w="1568874">
                  <a:extLst>
                    <a:ext uri="{9D8B030D-6E8A-4147-A177-3AD203B41FA5}">
                      <a16:colId xmlns:a16="http://schemas.microsoft.com/office/drawing/2014/main" val="1735445581"/>
                    </a:ext>
                  </a:extLst>
                </a:gridCol>
                <a:gridCol w="1662405">
                  <a:extLst>
                    <a:ext uri="{9D8B030D-6E8A-4147-A177-3AD203B41FA5}">
                      <a16:colId xmlns:a16="http://schemas.microsoft.com/office/drawing/2014/main" val="2049620626"/>
                    </a:ext>
                  </a:extLst>
                </a:gridCol>
                <a:gridCol w="1662405">
                  <a:extLst>
                    <a:ext uri="{9D8B030D-6E8A-4147-A177-3AD203B41FA5}">
                      <a16:colId xmlns:a16="http://schemas.microsoft.com/office/drawing/2014/main" val="1891716322"/>
                    </a:ext>
                  </a:extLst>
                </a:gridCol>
                <a:gridCol w="1662405">
                  <a:extLst>
                    <a:ext uri="{9D8B030D-6E8A-4147-A177-3AD203B41FA5}">
                      <a16:colId xmlns:a16="http://schemas.microsoft.com/office/drawing/2014/main" val="1174426199"/>
                    </a:ext>
                  </a:extLst>
                </a:gridCol>
              </a:tblGrid>
              <a:tr h="200744">
                <a:tc rowSpan="2" gridSpan="2">
                  <a:txBody>
                    <a:bodyPr wrap="square" lIns="45720" rIns="45720" tIns="27432" bIns="27432"/>
                    <a:lstStyle/>
                    <a:p>
                      <a:pPr algn="ctr"/>
                      <a:r>
                        <a:rPr sz="1000" b="1">
                          <a:solidFill>
                            <a:srgbClr val="FFFFFF"/>
                          </a:solidFill>
                          <a:latin typeface="Arial"/>
                        </a:rPr>
                        <a:t>KPI</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70AD47"/>
                    </a:solidFill>
                  </a:tcPr>
                </a:tc>
                <a:tc rowSpan="2" hMerge="1">
                  <a:txBody>
                    <a:bodyPr wrap="square" lIns="45720" rIns="45720" tIns="27432" bIns="27432"/>
                    <a:lstStyle/>
                    <a:p>
                      <a:pPr algn="ctr"/>
                      <a:r>
                        <a:rPr sz="1000" b="1">
                          <a:solidFill>
                            <a:srgbClr val="FFFFFF"/>
                          </a:solidFill>
                          <a:latin typeface="Arial"/>
                        </a:rPr>
                        <a:t>SPT</a:t>
                      </a:r>
                    </a:p>
                  </a:txBody>
                  <a:tcPr>
                    <a:solidFill>
                      <a:srgbClr val="C00000"/>
                    </a:solidFill>
                  </a:tcPr>
                </a:tc>
                <a:tc gridSpan="4">
                  <a:txBody>
                    <a:bodyPr wrap="square" lIns="45720" rIns="45720" tIns="27432" bIns="27432"/>
                    <a:lstStyle/>
                    <a:p>
                      <a:pPr algn="ctr"/>
                      <a:r>
                        <a:rPr sz="900" b="1">
                          <a:solidFill>
                            <a:srgbClr val="FFFFFF"/>
                          </a:solidFill>
                          <a:latin typeface="Arial"/>
                        </a:rPr>
                        <a:t>Baseline (2021)</a:t>
                      </a:r>
                    </a:p>
                  </a:txBody>
                  <a:tcPr>
                    <a:lnL w="12700" cmpd="sng">
                      <a:noFill/>
                    </a:lnL>
                    <a:solidFill>
                      <a:srgbClr val="70AD47"/>
                    </a:solidFill>
                  </a:tcPr>
                </a:tc>
                <a:tc hMerge="1">
                  <a:txBody>
                    <a:bodyPr wrap="square" lIns="45720" rIns="45720" tIns="27432" bIns="27432"/>
                    <a:lstStyle/>
                    <a:p>
                      <a:pPr algn="ctr"/>
                      <a:r>
                        <a:rPr sz="900" b="1">
                          <a:solidFill>
                            <a:srgbClr val="FFFFFF"/>
                          </a:solidFill>
                          <a:latin typeface="Arial"/>
                        </a:rPr>
                        <a:t>2022</a:t>
                      </a:r>
                    </a:p>
                  </a:txBody>
                  <a:tcPr>
                    <a:solidFill>
                      <a:srgbClr val="C00000"/>
                    </a:solidFill>
                  </a:tcPr>
                </a:tc>
                <a:tc hMerge="1">
                  <a:txBody>
                    <a:bodyPr wrap="square" lIns="45720" rIns="45720" tIns="27432" bIns="27432"/>
                    <a:lstStyle/>
                    <a:p>
                      <a:pPr algn="ctr"/>
                      <a:r>
                        <a:rPr sz="900" b="1">
                          <a:solidFill>
                            <a:srgbClr val="FFFFFF"/>
                          </a:solidFill>
                          <a:latin typeface="Arial"/>
                        </a:rPr>
                        <a:t>2023</a:t>
                      </a:r>
                    </a:p>
                  </a:txBody>
                  <a:tcPr>
                    <a:solidFill>
                      <a:srgbClr val="C00000"/>
                    </a:solidFill>
                  </a:tcPr>
                </a:tc>
                <a:tc hMerge="1">
                  <a:txBody>
                    <a:bodyPr wrap="square" lIns="45720" rIns="45720" tIns="27432" bIns="27432"/>
                    <a:lstStyle/>
                    <a:p>
                      <a:pPr algn="ctr"/>
                      <a:r>
                        <a:rPr sz="900" b="1">
                          <a:solidFill>
                            <a:srgbClr val="FFFFFF"/>
                          </a:solidFill>
                          <a:latin typeface="Arial"/>
                        </a:rPr>
                        <a:t>2024</a:t>
                      </a:r>
                    </a:p>
                  </a:txBody>
                  <a:tcPr>
                    <a:solidFill>
                      <a:srgbClr val="C00000"/>
                    </a:solidFill>
                  </a:tcPr>
                </a:tc>
                <a:extLst>
                  <a:ext uri="{0D108BD9-81ED-4DB2-BD59-A6C34878D82A}">
                    <a16:rowId xmlns:a16="http://schemas.microsoft.com/office/drawing/2014/main" val="2077444958"/>
                  </a:ext>
                </a:extLst>
              </a:tr>
              <a:tr h="200744">
                <a:tc gridSpan="2" vMerge="1">
                  <a:txBody>
                    <a:bodyPr/>
                    <a:lstStyle/>
                    <a:p>
                      <a:pPr algn="ctr"/>
                      <a:endParaRPr lang="en-US" sz="1050" dirty="0">
                        <a:latin typeface="Arial" panose="020B0604020202020204" pitchFamily="34" charset="0"/>
                        <a:cs typeface="Arial" panose="020B0604020202020204" pitchFamily="34" charset="0"/>
                      </a:endParaRPr>
                    </a:p>
                  </a:txBody>
                  <a:tcPr>
                    <a:solidFill>
                      <a:srgbClr val="C00000"/>
                    </a:solidFill>
                  </a:tcPr>
                </a:tc>
                <a:tc hMerge="1" vMerge="1">
                  <a:txBody>
                    <a:bodyPr/>
                    <a:lstStyle/>
                    <a:p>
                      <a:pPr algn="ctr"/>
                      <a:endParaRPr lang="en-US" sz="1050" dirty="0">
                        <a:latin typeface="Arial" panose="020B0604020202020204" pitchFamily="34" charset="0"/>
                        <a:cs typeface="Arial" panose="020B0604020202020204" pitchFamily="34" charset="0"/>
                      </a:endParaRPr>
                    </a:p>
                  </a:txBody>
                  <a:tcPr>
                    <a:solidFill>
                      <a:srgbClr val="C00000"/>
                    </a:solidFill>
                  </a:tcPr>
                </a:tc>
                <a:tc>
                  <a:txBody>
                    <a:bodyPr/>
                    <a:lstStyle/>
                    <a:p>
                      <a:pPr algn="ctr"/>
                      <a:r>
                        <a:rPr lang="en-US" sz="1100" dirty="0">
                          <a:solidFill>
                            <a:schemeClr val="bg1"/>
                          </a:solidFill>
                          <a:latin typeface="+mn-lt"/>
                          <a:cs typeface="Arial" panose="020B0604020202020204" pitchFamily="34" charset="0"/>
                        </a:rPr>
                        <a:t>Baseline (2021)</a:t>
                      </a:r>
                    </a:p>
                  </a:txBody>
                  <a:tcPr>
                    <a:lnL w="38100" cmpd="sng">
                      <a:noFill/>
                    </a:lnL>
                    <a:solidFill>
                      <a:srgbClr val="70AD47"/>
                    </a:solidFill>
                  </a:tcPr>
                </a:tc>
                <a:tc>
                  <a:txBody>
                    <a:bodyPr/>
                    <a:lstStyle/>
                    <a:p>
                      <a:pPr algn="ctr"/>
                      <a:r>
                        <a:rPr lang="en-US" sz="1100" dirty="0">
                          <a:solidFill>
                            <a:schemeClr val="bg1"/>
                          </a:solidFill>
                          <a:latin typeface="+mn-lt"/>
                          <a:cs typeface="Arial" panose="020B0604020202020204" pitchFamily="34" charset="0"/>
                        </a:rPr>
                        <a:t>2022</a:t>
                      </a:r>
                    </a:p>
                  </a:txBody>
                  <a:tcPr>
                    <a:solidFill>
                      <a:srgbClr val="70AD47"/>
                    </a:solidFill>
                  </a:tcPr>
                </a:tc>
                <a:tc>
                  <a:txBody>
                    <a:bodyPr/>
                    <a:lstStyle/>
                    <a:p>
                      <a:pPr algn="ctr"/>
                      <a:r>
                        <a:rPr lang="en-US" sz="1100" dirty="0">
                          <a:solidFill>
                            <a:schemeClr val="bg1"/>
                          </a:solidFill>
                          <a:latin typeface="+mn-lt"/>
                          <a:cs typeface="Arial" panose="020B0604020202020204" pitchFamily="34" charset="0"/>
                        </a:rPr>
                        <a:t>2023</a:t>
                      </a:r>
                    </a:p>
                  </a:txBody>
                  <a:tcPr>
                    <a:solidFill>
                      <a:srgbClr val="70AD47"/>
                    </a:solidFill>
                  </a:tcPr>
                </a:tc>
                <a:tc>
                  <a:txBody>
                    <a:bodyPr/>
                    <a:lstStyle/>
                    <a:p>
                      <a:pPr algn="ctr"/>
                      <a:r>
                        <a:rPr lang="en-US" sz="1100" dirty="0">
                          <a:solidFill>
                            <a:schemeClr val="bg1"/>
                          </a:solidFill>
                          <a:latin typeface="+mn-lt"/>
                          <a:cs typeface="Arial" panose="020B0604020202020204" pitchFamily="34" charset="0"/>
                        </a:rPr>
                        <a:t>2024</a:t>
                      </a:r>
                    </a:p>
                  </a:txBody>
                  <a:tcPr>
                    <a:solidFill>
                      <a:srgbClr val="70AD47"/>
                    </a:solidFill>
                  </a:tcPr>
                </a:tc>
                <a:extLst>
                  <a:ext uri="{0D108BD9-81ED-4DB2-BD59-A6C34878D82A}">
                    <a16:rowId xmlns:a16="http://schemas.microsoft.com/office/drawing/2014/main" val="3770908034"/>
                  </a:ext>
                </a:extLst>
              </a:tr>
              <a:tr h="419646">
                <a:tc>
                  <a:txBody>
                    <a:bodyPr wrap="square" lIns="45720" rIns="45720" tIns="27432" bIns="27432"/>
                    <a:lstStyle/>
                    <a:p>
                      <a:pPr algn="ctr"/>
                      <a:r>
                        <a:rPr sz="850" b="1">
                          <a:solidFill>
                            <a:srgbClr val="DC0000"/>
                          </a:solidFill>
                          <a:latin typeface="Arial"/>
                        </a:rPr>
                        <a:t>KPI #1</a:t>
                      </a:r>
                    </a:p>
                  </a:txBody>
                  <a:tcPr>
                    <a:lnT w="38100" cmpd="sng">
                      <a:noFill/>
                    </a:lnT>
                    <a:solidFill>
                      <a:schemeClr val="accent6">
                        <a:lumMod val="20000"/>
                        <a:lumOff val="80000"/>
                      </a:schemeClr>
                    </a:solidFill>
                  </a:tcPr>
                </a:tc>
                <a:tc>
                  <a:txBody>
                    <a:bodyPr wrap="square" lIns="45720" rIns="45720" tIns="27432" bIns="27432"/>
                    <a:lstStyle/>
                    <a:p>
                      <a:pPr algn="ctr"/>
                      <a:r>
                        <a:rPr sz="850" b="0">
                          <a:solidFill>
                            <a:srgbClr val="000000"/>
                          </a:solidFill>
                          <a:latin typeface="Arial"/>
                        </a:rPr>
                        <a:t>SPT #1</a:t>
                      </a:r>
                    </a:p>
                  </a:txBody>
                  <a:tcPr>
                    <a:lnT w="38100" cmpd="sng">
                      <a:noFill/>
                    </a:lnT>
                    <a:solidFill>
                      <a:schemeClr val="accent6">
                        <a:lumMod val="20000"/>
                        <a:lumOff val="80000"/>
                      </a:schemeClr>
                    </a:solidFill>
                  </a:tcPr>
                </a:tc>
                <a:tc>
                  <a:txBody>
                    <a:bodyPr wrap="square" lIns="45720" rIns="45720" tIns="27432" bIns="27432"/>
                    <a:lstStyle/>
                    <a:p>
                      <a:pPr algn="ctr"/>
                      <a:r>
                        <a:rPr sz="850" b="0">
                          <a:solidFill>
                            <a:srgbClr val="000000"/>
                          </a:solidFill>
                          <a:latin typeface="Arial"/>
                        </a:rPr>
                        <a:t>76%</a:t>
                      </a:r>
                    </a:p>
                  </a:txBody>
                  <a:tcPr>
                    <a:solidFill>
                      <a:schemeClr val="accent6">
                        <a:lumMod val="20000"/>
                        <a:lumOff val="80000"/>
                      </a:schemeClr>
                    </a:solidFill>
                  </a:tcPr>
                </a:tc>
                <a:tc>
                  <a:txBody>
                    <a:bodyPr wrap="square" lIns="45720" rIns="45720" tIns="27432" bIns="27432"/>
                    <a:lstStyle/>
                    <a:p>
                      <a:pPr algn="ctr"/>
                      <a:r>
                        <a:rPr sz="850" b="0">
                          <a:solidFill>
                            <a:srgbClr val="000000"/>
                          </a:solidFill>
                          <a:latin typeface="Arial"/>
                        </a:rPr>
                        <a:t>84%</a:t>
                      </a:r>
                    </a:p>
                  </a:txBody>
                  <a:tcPr>
                    <a:solidFill>
                      <a:schemeClr val="accent6">
                        <a:lumMod val="20000"/>
                        <a:lumOff val="80000"/>
                      </a:schemeClr>
                    </a:solidFill>
                  </a:tcPr>
                </a:tc>
                <a:tc>
                  <a:txBody>
                    <a:bodyPr wrap="square" lIns="45720" rIns="45720" tIns="27432" bIns="27432"/>
                    <a:lstStyle/>
                    <a:p>
                      <a:pPr algn="ctr"/>
                      <a:r>
                        <a:rPr sz="850" b="0">
                          <a:solidFill>
                            <a:srgbClr val="000000"/>
                          </a:solidFill>
                          <a:latin typeface="Arial"/>
                        </a:rPr>
                        <a:t>92%</a:t>
                      </a:r>
                    </a:p>
                  </a:txBody>
                  <a:tcPr>
                    <a:solidFill>
                      <a:schemeClr val="accent6">
                        <a:lumMod val="20000"/>
                        <a:lumOff val="80000"/>
                      </a:schemeClr>
                    </a:solidFill>
                  </a:tcPr>
                </a:tc>
                <a:tc>
                  <a:txBody>
                    <a:bodyPr wrap="square" lIns="45720" rIns="45720" tIns="27432" bIns="27432"/>
                    <a:lstStyle/>
                    <a:p>
                      <a:pPr algn="ctr"/>
                      <a:r>
                        <a:rPr sz="850" b="0">
                          <a:solidFill>
                            <a:srgbClr val="000000"/>
                          </a:solidFill>
                          <a:latin typeface="Arial"/>
                        </a:rPr>
                        <a:t>100%</a:t>
                      </a:r>
                    </a:p>
                  </a:txBody>
                  <a:tcPr>
                    <a:solidFill>
                      <a:schemeClr val="accent6">
                        <a:lumMod val="20000"/>
                        <a:lumOff val="80000"/>
                      </a:schemeClr>
                    </a:solidFill>
                  </a:tcPr>
                </a:tc>
                <a:extLst>
                  <a:ext uri="{0D108BD9-81ED-4DB2-BD59-A6C34878D82A}">
                    <a16:rowId xmlns:a16="http://schemas.microsoft.com/office/drawing/2014/main" val="4237788209"/>
                  </a:ext>
                </a:extLst>
              </a:tr>
              <a:tr h="479596">
                <a:tc rowSpan="2">
                  <a:txBody>
                    <a:bodyPr wrap="square" lIns="45720" rIns="45720" tIns="27432" bIns="27432"/>
                    <a:lstStyle/>
                    <a:p>
                      <a:pPr algn="ctr"/>
                      <a:r>
                        <a:rPr sz="850" b="1">
                          <a:solidFill>
                            <a:srgbClr val="DC0000"/>
                          </a:solidFill>
                          <a:latin typeface="Arial"/>
                        </a:rPr>
                        <a:t>KPI #2</a:t>
                      </a:r>
                    </a:p>
                  </a:txBody>
                  <a:tcPr>
                    <a:solidFill>
                      <a:schemeClr val="accent6">
                        <a:lumMod val="20000"/>
                        <a:lumOff val="80000"/>
                      </a:schemeClr>
                    </a:solidFill>
                  </a:tcPr>
                </a:tc>
                <a:tc>
                  <a:txBody>
                    <a:bodyPr wrap="square" lIns="45720" rIns="45720" tIns="27432" bIns="27432"/>
                    <a:lstStyle/>
                    <a:p>
                      <a:pPr algn="ctr"/>
                      <a:r>
                        <a:rPr sz="850" b="0">
                          <a:solidFill>
                            <a:srgbClr val="000000"/>
                          </a:solidFill>
                          <a:latin typeface="Arial"/>
                        </a:rPr>
                        <a:t>SPT #2.1</a:t>
                      </a:r>
                    </a:p>
                  </a:txBody>
                  <a:tcPr>
                    <a:solidFill>
                      <a:schemeClr val="accent6">
                        <a:lumMod val="20000"/>
                        <a:lumOff val="80000"/>
                      </a:schemeClr>
                    </a:solidFill>
                  </a:tcPr>
                </a:tc>
                <a:tc>
                  <a:txBody>
                    <a:bodyPr wrap="square" lIns="45720" rIns="45720" tIns="27432" bIns="27432"/>
                    <a:lstStyle/>
                    <a:p>
                      <a:pPr algn="ctr"/>
                      <a:r>
                        <a:rPr sz="850" b="0">
                          <a:solidFill>
                            <a:srgbClr val="000000"/>
                          </a:solidFill>
                          <a:latin typeface="Arial"/>
                        </a:rPr>
                        <a:t>63%</a:t>
                      </a:r>
                    </a:p>
                  </a:txBody>
                  <a:tcPr>
                    <a:solidFill>
                      <a:schemeClr val="accent6">
                        <a:lumMod val="20000"/>
                        <a:lumOff val="80000"/>
                      </a:schemeClr>
                    </a:solidFill>
                  </a:tcPr>
                </a:tc>
                <a:tc>
                  <a:txBody>
                    <a:bodyPr wrap="square" lIns="45720" rIns="45720" tIns="27432" bIns="27432"/>
                    <a:lstStyle/>
                    <a:p>
                      <a:pPr algn="ctr"/>
                      <a:r>
                        <a:rPr sz="850" b="0">
                          <a:solidFill>
                            <a:srgbClr val="000000"/>
                          </a:solidFill>
                          <a:latin typeface="Arial"/>
                        </a:rPr>
                        <a:t>75%</a:t>
                      </a:r>
                    </a:p>
                  </a:txBody>
                  <a:tcPr>
                    <a:solidFill>
                      <a:schemeClr val="accent6">
                        <a:lumMod val="20000"/>
                        <a:lumOff val="80000"/>
                      </a:schemeClr>
                    </a:solidFill>
                  </a:tcPr>
                </a:tc>
                <a:tc>
                  <a:txBody>
                    <a:bodyPr wrap="square" lIns="45720" rIns="45720" tIns="27432" bIns="27432"/>
                    <a:lstStyle/>
                    <a:p>
                      <a:pPr algn="ctr"/>
                      <a:r>
                        <a:rPr sz="850" b="0">
                          <a:solidFill>
                            <a:srgbClr val="000000"/>
                          </a:solidFill>
                          <a:latin typeface="Arial"/>
                        </a:rPr>
                        <a:t>88%</a:t>
                      </a:r>
                    </a:p>
                  </a:txBody>
                  <a:tcPr>
                    <a:solidFill>
                      <a:schemeClr val="accent6">
                        <a:lumMod val="20000"/>
                        <a:lumOff val="80000"/>
                      </a:schemeClr>
                    </a:solidFill>
                  </a:tcPr>
                </a:tc>
                <a:tc>
                  <a:txBody>
                    <a:bodyPr wrap="square" lIns="45720" rIns="45720" tIns="27432" bIns="27432"/>
                    <a:lstStyle/>
                    <a:p>
                      <a:pPr algn="ctr"/>
                      <a:r>
                        <a:rPr sz="850" b="0">
                          <a:solidFill>
                            <a:srgbClr val="000000"/>
                          </a:solidFill>
                          <a:latin typeface="Arial"/>
                        </a:rPr>
                        <a:t>100%</a:t>
                      </a:r>
                    </a:p>
                  </a:txBody>
                  <a:tcPr>
                    <a:solidFill>
                      <a:schemeClr val="accent6">
                        <a:lumMod val="20000"/>
                        <a:lumOff val="80000"/>
                      </a:schemeClr>
                    </a:solidFill>
                  </a:tcPr>
                </a:tc>
                <a:extLst>
                  <a:ext uri="{0D108BD9-81ED-4DB2-BD59-A6C34878D82A}">
                    <a16:rowId xmlns:a16="http://schemas.microsoft.com/office/drawing/2014/main" val="2863146335"/>
                  </a:ext>
                </a:extLst>
              </a:tr>
              <a:tr h="374684">
                <a:tc vMerge="1">
                  <a:txBody>
                    <a:bodyPr wrap="square" lIns="45720" rIns="45720" tIns="27432" bIns="27432"/>
                    <a:lstStyle/>
                    <a:p>
                      <a:pPr algn="ctr"/>
                      <a:r>
                        <a:rPr sz="800" b="0">
                          <a:solidFill>
                            <a:srgbClr val="000000"/>
                          </a:solidFill>
                          <a:latin typeface="Arial"/>
                        </a:rPr>
                        <a:t/>
                      </a:r>
                    </a:p>
                  </a:txBody>
                  <a:tcPr>
                    <a:solidFill>
                      <a:srgbClr val="E7E6E6"/>
                    </a:solidFill>
                  </a:tcPr>
                </a:tc>
                <a:tc>
                  <a:txBody>
                    <a:bodyPr wrap="square" lIns="45720" rIns="45720" tIns="27432" bIns="27432"/>
                    <a:lstStyle/>
                    <a:p>
                      <a:pPr algn="ctr"/>
                      <a:r>
                        <a:rPr sz="800" b="0">
                          <a:solidFill>
                            <a:srgbClr val="000000"/>
                          </a:solidFill>
                          <a:latin typeface="Arial"/>
                        </a:rPr>
                        <a:t/>
                      </a:r>
                    </a:p>
                  </a:txBody>
                  <a:tcPr>
                    <a:solidFill>
                      <a:schemeClr val="accent6">
                        <a:lumMod val="20000"/>
                        <a:lumOff val="80000"/>
                      </a:schemeClr>
                    </a:solidFill>
                  </a:tcPr>
                </a:tc>
                <a:tc>
                  <a:txBody>
                    <a:bodyPr wrap="square" lIns="45720" rIns="45720" tIns="27432" bIns="27432"/>
                    <a:lstStyle/>
                    <a:p>
                      <a:pPr algn="ctr"/>
                      <a:r>
                        <a:rPr sz="800" b="0">
                          <a:solidFill>
                            <a:srgbClr val="000000"/>
                          </a:solidFill>
                          <a:latin typeface="Arial"/>
                        </a:rPr>
                        <a:t/>
                      </a:r>
                    </a:p>
                  </a:txBody>
                  <a:tcPr>
                    <a:solidFill>
                      <a:schemeClr val="accent6">
                        <a:lumMod val="20000"/>
                        <a:lumOff val="80000"/>
                      </a:schemeClr>
                    </a:solidFill>
                  </a:tcPr>
                </a:tc>
                <a:tc>
                  <a:txBody>
                    <a:bodyPr wrap="square" lIns="45720" rIns="45720" tIns="27432" bIns="27432"/>
                    <a:lstStyle/>
                    <a:p>
                      <a:pPr algn="ctr"/>
                      <a:r>
                        <a:rPr sz="800" b="0">
                          <a:solidFill>
                            <a:srgbClr val="000000"/>
                          </a:solidFill>
                          <a:latin typeface="Arial"/>
                        </a:rPr>
                        <a:t/>
                      </a:r>
                    </a:p>
                  </a:txBody>
                  <a:tcPr>
                    <a:solidFill>
                      <a:schemeClr val="accent6">
                        <a:lumMod val="20000"/>
                        <a:lumOff val="80000"/>
                      </a:schemeClr>
                    </a:solidFill>
                  </a:tcPr>
                </a:tc>
                <a:tc>
                  <a:txBody>
                    <a:bodyPr wrap="square" lIns="45720" rIns="45720" tIns="27432" bIns="27432"/>
                    <a:lstStyle/>
                    <a:p>
                      <a:pPr algn="ctr"/>
                      <a:r>
                        <a:rPr sz="800" b="0">
                          <a:solidFill>
                            <a:srgbClr val="000000"/>
                          </a:solidFill>
                          <a:latin typeface="Arial"/>
                        </a:rPr>
                        <a:t/>
                      </a:r>
                    </a:p>
                  </a:txBody>
                  <a:tcPr>
                    <a:solidFill>
                      <a:schemeClr val="accent6">
                        <a:lumMod val="20000"/>
                        <a:lumOff val="80000"/>
                      </a:schemeClr>
                    </a:solidFill>
                  </a:tcPr>
                </a:tc>
                <a:tc>
                  <a:txBody>
                    <a:bodyPr wrap="square" lIns="45720" rIns="45720" tIns="27432" bIns="27432"/>
                    <a:lstStyle/>
                    <a:p>
                      <a:pPr algn="ctr"/>
                      <a:r>
                        <a:rPr sz="800" b="0">
                          <a:solidFill>
                            <a:srgbClr val="000000"/>
                          </a:solidFill>
                          <a:latin typeface="Arial"/>
                        </a:rPr>
                        <a:t/>
                      </a:r>
                    </a:p>
                  </a:txBody>
                  <a:tcPr>
                    <a:solidFill>
                      <a:schemeClr val="accent6">
                        <a:lumMod val="20000"/>
                        <a:lumOff val="80000"/>
                      </a:schemeClr>
                    </a:solidFill>
                  </a:tcPr>
                </a:tc>
                <a:extLst>
                  <a:ext uri="{0D108BD9-81ED-4DB2-BD59-A6C34878D82A}">
                    <a16:rowId xmlns:a16="http://schemas.microsoft.com/office/drawing/2014/main" val="3821646099"/>
                  </a:ext>
                </a:extLst>
              </a:tr>
              <a:tr h="479596">
                <a:tc>
                  <a:txBody>
                    <a:bodyPr wrap="square"/>
                    <a:lstStyle/>
                    <a:p>
                      <a:pPr algn="ctr"/>
                      <a:r>
                        <a:rPr sz="850" b="1">
                          <a:solidFill>
                            <a:srgbClr val="DC0000"/>
                          </a:solidFill>
                          <a:latin typeface="Arial"/>
                        </a:rPr>
                        <a:t>KPI #3</a:t>
                      </a:r>
                    </a:p>
                  </a:txBody>
                  <a:tcPr>
                    <a:solidFill>
                      <a:schemeClr val="accent6">
                        <a:lumMod val="20000"/>
                        <a:lumOff val="80000"/>
                      </a:schemeClr>
                    </a:solidFill>
                  </a:tcPr>
                </a:tc>
                <a:tc>
                  <a:txBody>
                    <a:bodyPr wrap="square"/>
                    <a:lstStyle/>
                    <a:p>
                      <a:pPr algn="ctr"/>
                      <a:r>
                        <a:rPr sz="850" b="0">
                          <a:solidFill>
                            <a:srgbClr val="000000"/>
                          </a:solidFill>
                          <a:latin typeface="Arial"/>
                        </a:rPr>
                        <a:t>SPT #3</a:t>
                      </a:r>
                    </a:p>
                  </a:txBody>
                  <a:tcPr>
                    <a:solidFill>
                      <a:schemeClr val="accent6">
                        <a:lumMod val="20000"/>
                        <a:lumOff val="80000"/>
                      </a:schemeClr>
                    </a:solidFill>
                  </a:tcPr>
                </a:tc>
                <a:tc>
                  <a:txBody>
                    <a:bodyPr wrap="square"/>
                    <a:lstStyle/>
                    <a:p>
                      <a:pPr algn="ctr"/>
                      <a:r>
                        <a:rPr sz="850" b="0">
                          <a:solidFill>
                            <a:srgbClr val="000000"/>
                          </a:solidFill>
                          <a:latin typeface="Arial"/>
                        </a:rPr>
                        <a:t>404,900 MT CO2e</a:t>
                      </a:r>
                    </a:p>
                  </a:txBody>
                  <a:tcPr>
                    <a:solidFill>
                      <a:schemeClr val="accent6">
                        <a:lumMod val="20000"/>
                        <a:lumOff val="80000"/>
                      </a:schemeClr>
                    </a:solidFill>
                  </a:tcPr>
                </a:tc>
                <a:tc>
                  <a:txBody>
                    <a:bodyPr wrap="square"/>
                    <a:lstStyle/>
                    <a:p>
                      <a:pPr algn="ctr"/>
                      <a:r>
                        <a:rPr sz="850" b="0">
                          <a:solidFill>
                            <a:srgbClr val="000000"/>
                          </a:solidFill>
                          <a:latin typeface="Arial"/>
                        </a:rPr>
                        <a:t>391,300 (-3.4%)</a:t>
                      </a:r>
                    </a:p>
                  </a:txBody>
                  <a:tcPr>
                    <a:solidFill>
                      <a:schemeClr val="accent6">
                        <a:lumMod val="20000"/>
                        <a:lumOff val="80000"/>
                      </a:schemeClr>
                    </a:solidFill>
                  </a:tcPr>
                </a:tc>
                <a:tc>
                  <a:txBody>
                    <a:bodyPr wrap="square"/>
                    <a:lstStyle/>
                    <a:p>
                      <a:pPr algn="ctr"/>
                      <a:r>
                        <a:rPr sz="850" b="0">
                          <a:solidFill>
                            <a:srgbClr val="000000"/>
                          </a:solidFill>
                          <a:latin typeface="Arial"/>
                        </a:rPr>
                        <a:t>370,900 (-8.4%)</a:t>
                      </a:r>
                    </a:p>
                  </a:txBody>
                  <a:tcPr>
                    <a:solidFill>
                      <a:schemeClr val="accent6">
                        <a:lumMod val="20000"/>
                        <a:lumOff val="80000"/>
                      </a:schemeClr>
                    </a:solidFill>
                  </a:tcPr>
                </a:tc>
                <a:tc>
                  <a:txBody>
                    <a:bodyPr wrap="square"/>
                    <a:lstStyle/>
                    <a:p>
                      <a:r>
                        <a:rPr sz="850">
                          <a:solidFill>
                            <a:srgbClr val="000000"/>
                          </a:solidFill>
                          <a:latin typeface="Arial"/>
                        </a:rPr>
                        <a:t>351,858 (-13.1%)</a:t>
                      </a:r>
                    </a:p>
                  </a:txBody>
                  <a:tcPr>
                    <a:solidFill>
                      <a:schemeClr val="accent6">
                        <a:lumMod val="20000"/>
                        <a:lumOff val="80000"/>
                      </a:schemeClr>
                    </a:solidFill>
                  </a:tcPr>
                </a:tc>
                <a:extLst>
                  <a:ext uri="{0D108BD9-81ED-4DB2-BD59-A6C34878D82A}">
                    <a16:rowId xmlns:a16="http://schemas.microsoft.com/office/drawing/2014/main" val="3706852947"/>
                  </a:ext>
                </a:extLst>
              </a:tr>
            </a:tbl>
          </a:graphicData>
        </a:graphic>
      </p:graphicFrame>
      <p:sp>
        <p:nvSpPr>
          <p:cNvPr id="13" name="TextBox 12">
            <a:extLst>
              <a:ext uri="{FF2B5EF4-FFF2-40B4-BE49-F238E27FC236}">
                <a16:creationId xmlns:a16="http://schemas.microsoft.com/office/drawing/2014/main" id="{A9B8D392-A500-4EB0-AC58-D2BC11F385B6}"/>
              </a:ext>
            </a:extLst>
          </p:cNvPr>
          <p:cNvSpPr txBox="1"/>
          <p:nvPr/>
        </p:nvSpPr>
        <p:spPr>
          <a:xfrm>
            <a:off x="370160" y="5934725"/>
            <a:ext cx="10802459" cy="707886"/>
          </a:xfrm>
          <a:prstGeom prst="rect">
            <a:avLst/>
          </a:prstGeom>
          <a:noFill/>
        </p:spPr>
        <p:txBody>
          <a:bodyPr wrap="square" rtlCol="0">
            <a:spAutoFit/>
          </a:bodyPr>
          <a:lstStyle/>
          <a:p>
            <a:r>
              <a:rPr sz="800" b="1" u="sng">
                <a:latin typeface="Arial"/>
              </a:rPr>
              <a:t>References</a:t>
            </a:r>
          </a:p>
          <a:p>
            <a:r>
              <a:rPr sz="750">
                <a:latin typeface="Arial"/>
              </a:rPr>
              <a:t>(1) Palm Ventures 2021 Sustainability Report</a:t>
            </a:r>
          </a:p>
          <a:p>
            <a:r>
              <a:rPr sz="750">
                <a:latin typeface="Arial"/>
              </a:rPr>
              <a:t>(2) LSTA, Sustainability-Linked Loan Principles (SLLP), 2025</a:t>
            </a:r>
          </a:p>
          <a:p>
            <a:r>
              <a:rPr sz="750">
                <a:latin typeface="Arial"/>
              </a:rPr>
              <a:t>(3) RSPO Principles &amp; Criteria</a:t>
            </a:r>
          </a:p>
          <a:p>
            <a:r>
              <a:rPr sz="750">
                <a:latin typeface="Arial"/>
              </a:rPr>
              <a:t>(4) Science Based Targets initiative (SBTi)</a:t>
            </a:r>
          </a:p>
        </p:txBody>
      </p:sp>
      <p:sp>
        <p:nvSpPr>
          <p:cNvPr id="15" name="TextBox 14">
            <a:extLst>
              <a:ext uri="{FF2B5EF4-FFF2-40B4-BE49-F238E27FC236}">
                <a16:creationId xmlns:a16="http://schemas.microsoft.com/office/drawing/2014/main" id="{A3499208-7216-4304-9794-94118E7C248A}"/>
              </a:ext>
            </a:extLst>
          </p:cNvPr>
          <p:cNvSpPr txBox="1"/>
          <p:nvPr/>
        </p:nvSpPr>
        <p:spPr>
          <a:xfrm>
            <a:off x="370160" y="5614230"/>
            <a:ext cx="11720424" cy="507831"/>
          </a:xfrm>
          <a:prstGeom prst="rect">
            <a:avLst/>
          </a:prstGeom>
          <a:noFill/>
        </p:spPr>
        <p:txBody>
          <a:bodyPr wrap="square" rtlCol="0">
            <a:spAutoFit/>
          </a:bodyPr>
          <a:lstStyle/>
          <a:p>
            <a:r>
              <a:rPr lang="en-US" sz="900" dirty="0">
                <a:solidFill>
                  <a:srgbClr val="FF0000"/>
                </a:solidFill>
              </a:rPr>
              <a:t>*Note: Targets presented are for illustration purposes only. The assessment of targets should be based on deliberation and mutual understanding with client, taking into careful consideration historical data in order to determine targets that are realistic, achievable and ambitious.</a:t>
            </a:r>
          </a:p>
          <a:p>
            <a:endParaRPr lang="en-US" sz="900" dirty="0">
              <a:solidFill>
                <a:srgbClr val="FF0000"/>
              </a:solidFill>
            </a:endParaRPr>
          </a:p>
        </p:txBody>
      </p:sp>
      <p:sp>
        <p:nvSpPr>
          <p:cNvPr id="16" name="TextBox 15"/>
          <p:cNvSpPr txBox="1"/>
          <p:nvPr/>
        </p:nvSpPr>
        <p:spPr>
          <a:xfrm>
            <a:off x="228047" y="396367"/>
            <a:ext cx="11757764" cy="1723549"/>
          </a:xfrm>
          <a:prstGeom prst="rect">
            <a:avLst/>
          </a:prstGeom>
          <a:noFill/>
        </p:spPr>
        <p:txBody>
          <a:bodyPr wrap="square" rtlCol="0">
            <a:spAutoFit/>
          </a:bodyPr>
          <a:lstStyle/>
          <a:p>
            <a:r>
              <a:rPr lang="en-US" sz="1200" i="1" dirty="0">
                <a:solidFill>
                  <a:srgbClr val="FF0000"/>
                </a:solidFill>
              </a:rPr>
              <a:t>Instruction: The process for calibration of the SPT(s) per KPI is highlighted as key step in structuring the sustainability-linked loans by the SLLP, since it will be the expression of the level of ambition the borrower is ready to commit to. Careful assessment and benchmarking are to be done to ensure the meaningful KPIs selected previously are appropriately anchored by ambitious SPTs that are: </a:t>
            </a:r>
          </a:p>
          <a:p>
            <a:pPr marL="831850" lvl="1" indent="-285750">
              <a:spcBef>
                <a:spcPts val="300"/>
              </a:spcBef>
              <a:buFont typeface="Arial" panose="020B0604020202020204" pitchFamily="34" charset="0"/>
              <a:buChar char="•"/>
              <a:defRPr/>
            </a:pPr>
            <a:r>
              <a:rPr lang="en-US" sz="1200" i="1" dirty="0">
                <a:solidFill>
                  <a:srgbClr val="FF0000"/>
                </a:solidFill>
                <a:cs typeface="Arial" panose="020B0604020202020204" pitchFamily="34" charset="0"/>
              </a:rPr>
              <a:t>Consistent with the borrower’s overall sustainability/ ESG strategy;</a:t>
            </a:r>
          </a:p>
          <a:p>
            <a:pPr marL="831850" lvl="1" indent="-285750">
              <a:spcBef>
                <a:spcPts val="300"/>
              </a:spcBef>
              <a:buFont typeface="Arial" panose="020B0604020202020204" pitchFamily="34" charset="0"/>
              <a:buChar char="•"/>
              <a:defRPr/>
            </a:pPr>
            <a:r>
              <a:rPr lang="en-US" sz="1200" i="1" dirty="0">
                <a:solidFill>
                  <a:srgbClr val="FF0000"/>
                </a:solidFill>
                <a:cs typeface="Arial" panose="020B0604020202020204" pitchFamily="34" charset="0"/>
              </a:rPr>
              <a:t>Represent a material improvement and is beyond the normal trajectory;</a:t>
            </a:r>
          </a:p>
          <a:p>
            <a:pPr marL="831850" lvl="1" indent="-285750">
              <a:spcBef>
                <a:spcPts val="300"/>
              </a:spcBef>
              <a:buFont typeface="Arial" panose="020B0604020202020204" pitchFamily="34" charset="0"/>
              <a:buChar char="•"/>
              <a:defRPr/>
            </a:pPr>
            <a:r>
              <a:rPr lang="en-US" sz="1200" i="1" dirty="0">
                <a:solidFill>
                  <a:srgbClr val="FF0000"/>
                </a:solidFill>
                <a:cs typeface="Arial" panose="020B0604020202020204" pitchFamily="34" charset="0"/>
              </a:rPr>
              <a:t>Are compared to a benchmark or an external reference; </a:t>
            </a:r>
          </a:p>
          <a:p>
            <a:pPr marL="831850" lvl="1" indent="-285750">
              <a:spcBef>
                <a:spcPts val="300"/>
              </a:spcBef>
              <a:buFont typeface="Arial" panose="020B0604020202020204" pitchFamily="34" charset="0"/>
              <a:buChar char="•"/>
              <a:defRPr/>
            </a:pPr>
            <a:r>
              <a:rPr lang="en-US" sz="1200" i="1" dirty="0">
                <a:solidFill>
                  <a:srgbClr val="FF0000"/>
                </a:solidFill>
                <a:cs typeface="Arial" panose="020B0604020202020204" pitchFamily="34" charset="0"/>
              </a:rPr>
              <a:t>Is to be determined on a predefined timeline, set before or concurrently with the origination of the loan.</a:t>
            </a:r>
          </a:p>
          <a:p>
            <a:endParaRPr lang="en-SG" sz="1200" i="1" dirty="0">
              <a:solidFill>
                <a:srgbClr val="FF0000"/>
              </a:solidFill>
            </a:endParaRPr>
          </a:p>
        </p:txBody>
      </p:sp>
      <p:sp>
        <p:nvSpPr>
          <p:cNvPr id="9" name="Title 12">
            <a:extLst>
              <a:ext uri="{FF2B5EF4-FFF2-40B4-BE49-F238E27FC236}">
                <a16:creationId xmlns:a16="http://schemas.microsoft.com/office/drawing/2014/main" id="{8BCD45BF-475C-420A-B115-74BBA78BDCBF}"/>
              </a:ext>
            </a:extLst>
          </p:cNvPr>
          <p:cNvSpPr txBox="1">
            <a:spLocks/>
          </p:cNvSpPr>
          <p:nvPr/>
        </p:nvSpPr>
        <p:spPr>
          <a:xfrm>
            <a:off x="8552218" y="-191328"/>
            <a:ext cx="4227650" cy="76170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b="1" kern="1200">
                <a:solidFill>
                  <a:srgbClr val="FF0000"/>
                </a:solidFill>
                <a:latin typeface="+mj-lt"/>
                <a:ea typeface="Open Sans" panose="020B0606030504020204" pitchFamily="34" charset="0"/>
                <a:cs typeface="Open Sans" panose="020B0606030504020204" pitchFamily="34"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en-US" sz="1800" dirty="0">
                <a:solidFill>
                  <a:schemeClr val="bg1"/>
                </a:solidFill>
                <a:latin typeface="Arial" panose="020B0604020202020204"/>
              </a:rPr>
              <a:t>SPT Selection &amp; Benchmarking</a:t>
            </a:r>
            <a:endParaRPr kumimoji="0" lang="en-US" sz="1800" i="0" u="none" strike="noStrike" kern="1200" cap="none" spc="0" normalizeH="0" baseline="0" noProof="0" dirty="0">
              <a:ln>
                <a:noFill/>
              </a:ln>
              <a:solidFill>
                <a:schemeClr val="bg1"/>
              </a:solidFill>
              <a:effectLst/>
              <a:uLnTx/>
              <a:uFillTx/>
              <a:latin typeface="Arial" panose="020B0604020202020204"/>
              <a:ea typeface="Open Sans" panose="020B0606030504020204" pitchFamily="34" charset="0"/>
              <a:cs typeface="Open Sans" panose="020B0606030504020204" pitchFamily="34" charset="0"/>
            </a:endParaRPr>
          </a:p>
        </p:txBody>
      </p:sp>
      <p:sp>
        <p:nvSpPr>
          <p:cNvPr id="10" name="Title 12">
            <a:extLst>
              <a:ext uri="{FF2B5EF4-FFF2-40B4-BE49-F238E27FC236}">
                <a16:creationId xmlns:a16="http://schemas.microsoft.com/office/drawing/2014/main" id="{AF89E742-AE11-4F3F-BC90-C95E451D0A14}"/>
              </a:ext>
            </a:extLst>
          </p:cNvPr>
          <p:cNvSpPr txBox="1">
            <a:spLocks/>
          </p:cNvSpPr>
          <p:nvPr/>
        </p:nvSpPr>
        <p:spPr>
          <a:xfrm>
            <a:off x="7747000" y="-191326"/>
            <a:ext cx="4227650" cy="76170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b="1" kern="1200">
                <a:solidFill>
                  <a:srgbClr val="FF0000"/>
                </a:solidFill>
                <a:latin typeface="+mj-lt"/>
                <a:ea typeface="Open Sans" panose="020B0606030504020204" pitchFamily="34" charset="0"/>
                <a:cs typeface="Open Sans" panose="020B0606030504020204" pitchFamily="34"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US" sz="1800" i="0" u="none" strike="noStrike" kern="1200" cap="none" spc="0" normalizeH="0" baseline="0" noProof="0" dirty="0">
              <a:ln>
                <a:noFill/>
              </a:ln>
              <a:solidFill>
                <a:schemeClr val="bg1"/>
              </a:solidFill>
              <a:effectLst/>
              <a:uLnTx/>
              <a:uFillTx/>
              <a:latin typeface="Arial" panose="020B0604020202020204"/>
              <a:ea typeface="Open Sans" panose="020B0606030504020204" pitchFamily="34" charset="0"/>
              <a:cs typeface="Open Sans" panose="020B0606030504020204" pitchFamily="34" charset="0"/>
            </a:endParaRPr>
          </a:p>
        </p:txBody>
      </p:sp>
      <p:sp>
        <p:nvSpPr>
          <p:cNvPr id="12" name="Rectangle 11">
            <a:extLst>
              <a:ext uri="{FF2B5EF4-FFF2-40B4-BE49-F238E27FC236}">
                <a16:creationId xmlns:a16="http://schemas.microsoft.com/office/drawing/2014/main" id="{C443124C-77B5-44C0-8769-AA5370A33BA9}"/>
              </a:ext>
            </a:extLst>
          </p:cNvPr>
          <p:cNvSpPr/>
          <p:nvPr/>
        </p:nvSpPr>
        <p:spPr>
          <a:xfrm>
            <a:off x="4921250" y="0"/>
            <a:ext cx="7261936" cy="379057"/>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4" name="Rectangle 13">
            <a:extLst>
              <a:ext uri="{FF2B5EF4-FFF2-40B4-BE49-F238E27FC236}">
                <a16:creationId xmlns:a16="http://schemas.microsoft.com/office/drawing/2014/main" id="{AD0AFBB2-9AD9-4A2F-B70E-8958A365C318}"/>
              </a:ext>
            </a:extLst>
          </p:cNvPr>
          <p:cNvSpPr/>
          <p:nvPr/>
        </p:nvSpPr>
        <p:spPr>
          <a:xfrm>
            <a:off x="8814" y="1"/>
            <a:ext cx="8208042" cy="37904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itle 12">
            <a:extLst>
              <a:ext uri="{FF2B5EF4-FFF2-40B4-BE49-F238E27FC236}">
                <a16:creationId xmlns:a16="http://schemas.microsoft.com/office/drawing/2014/main" id="{1B669473-1F53-40D8-8F5A-409BBC434A2B}"/>
              </a:ext>
            </a:extLst>
          </p:cNvPr>
          <p:cNvSpPr txBox="1">
            <a:spLocks/>
          </p:cNvSpPr>
          <p:nvPr/>
        </p:nvSpPr>
        <p:spPr>
          <a:xfrm>
            <a:off x="8495265" y="-186856"/>
            <a:ext cx="3882618" cy="76170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b="1" kern="1200">
                <a:solidFill>
                  <a:srgbClr val="FF0000"/>
                </a:solidFill>
                <a:latin typeface="+mj-lt"/>
                <a:ea typeface="Open Sans" panose="020B0606030504020204" pitchFamily="34" charset="0"/>
                <a:cs typeface="Open Sans" panose="020B0606030504020204" pitchFamily="34" charset="0"/>
              </a:defRPr>
            </a:lvl1pPr>
          </a:lstStyle>
          <a:p>
            <a:pPr lvl="0">
              <a:defRPr/>
            </a:pPr>
            <a:r>
              <a:rPr lang="en-US" sz="1600" dirty="0">
                <a:solidFill>
                  <a:schemeClr val="bg1"/>
                </a:solidFill>
                <a:latin typeface="Arial" panose="020B0604020202020204"/>
              </a:rPr>
              <a:t>③ SPT Calibration &amp; Benchmarking</a:t>
            </a:r>
            <a:endParaRPr kumimoji="0" lang="en-US" sz="1600" i="0" u="none" strike="noStrike" kern="1200" cap="none" spc="0" normalizeH="0" baseline="0" noProof="0" dirty="0">
              <a:ln>
                <a:noFill/>
              </a:ln>
              <a:solidFill>
                <a:schemeClr val="bg1"/>
              </a:solidFill>
              <a:effectLst/>
              <a:uLnTx/>
              <a:uFillTx/>
              <a:latin typeface="Arial" panose="020B0604020202020204"/>
              <a:ea typeface="Open Sans" panose="020B0606030504020204" pitchFamily="34" charset="0"/>
              <a:cs typeface="Open Sans" panose="020B0606030504020204" pitchFamily="34" charset="0"/>
            </a:endParaRPr>
          </a:p>
        </p:txBody>
      </p:sp>
      <p:sp>
        <p:nvSpPr>
          <p:cNvPr id="19" name="Rectangle 18">
            <a:extLst>
              <a:ext uri="{FF2B5EF4-FFF2-40B4-BE49-F238E27FC236}">
                <a16:creationId xmlns:a16="http://schemas.microsoft.com/office/drawing/2014/main" id="{5EF7B7C0-1850-4F55-8BF6-D6B987547BEC}"/>
              </a:ext>
            </a:extLst>
          </p:cNvPr>
          <p:cNvSpPr/>
          <p:nvPr/>
        </p:nvSpPr>
        <p:spPr>
          <a:xfrm>
            <a:off x="-1" y="0"/>
            <a:ext cx="4738990" cy="37905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0940BE84-F37A-4C12-A1C3-791F7D7999BC}"/>
              </a:ext>
            </a:extLst>
          </p:cNvPr>
          <p:cNvSpPr txBox="1"/>
          <p:nvPr/>
        </p:nvSpPr>
        <p:spPr>
          <a:xfrm>
            <a:off x="41139" y="24719"/>
            <a:ext cx="4853124" cy="307777"/>
          </a:xfrm>
          <a:prstGeom prst="rect">
            <a:avLst/>
          </a:prstGeom>
          <a:noFill/>
        </p:spPr>
        <p:txBody>
          <a:bodyPr wrap="square">
            <a:spAutoFit/>
          </a:bodyPr>
          <a:lstStyle/>
          <a:p>
            <a:r>
              <a:rPr lang="en-SG" sz="1400" b="1" dirty="0">
                <a:solidFill>
                  <a:schemeClr val="bg1"/>
                </a:solidFill>
                <a:latin typeface="Arial"/>
                <a:cs typeface="Arial"/>
              </a:rPr>
              <a:t>① Palm Ventures’ Material Issues &amp; Potential KPI</a:t>
            </a:r>
            <a:endParaRPr lang="en-US" sz="1400" dirty="0"/>
          </a:p>
        </p:txBody>
      </p:sp>
      <p:sp>
        <p:nvSpPr>
          <p:cNvPr id="21" name="Title 1">
            <a:extLst>
              <a:ext uri="{FF2B5EF4-FFF2-40B4-BE49-F238E27FC236}">
                <a16:creationId xmlns:a16="http://schemas.microsoft.com/office/drawing/2014/main" id="{90CC49E1-A74A-4B52-8B0B-B7FD8AEEF01A}"/>
              </a:ext>
            </a:extLst>
          </p:cNvPr>
          <p:cNvSpPr txBox="1">
            <a:spLocks/>
          </p:cNvSpPr>
          <p:nvPr/>
        </p:nvSpPr>
        <p:spPr>
          <a:xfrm>
            <a:off x="5223317" y="59347"/>
            <a:ext cx="2898189" cy="303925"/>
          </a:xfrm>
          <a:prstGeom prst="rect">
            <a:avLst/>
          </a:prstGeom>
          <a:ln w="19050">
            <a:noFill/>
          </a:ln>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lvl="0" algn="l">
              <a:defRPr/>
            </a:pPr>
            <a:r>
              <a:rPr lang="en-US" sz="1600" b="1" dirty="0">
                <a:solidFill>
                  <a:schemeClr val="bg1"/>
                </a:solidFill>
                <a:latin typeface="Arial" panose="020B0604020202020204"/>
              </a:rPr>
              <a:t>② KPI Selection</a:t>
            </a:r>
            <a:endParaRPr kumimoji="0" lang="en-US" sz="1600" b="1" i="0" u="none" strike="noStrike" kern="1200" cap="none" spc="0" normalizeH="0" baseline="0" noProof="0" dirty="0">
              <a:ln>
                <a:noFill/>
              </a:ln>
              <a:solidFill>
                <a:schemeClr val="bg1"/>
              </a:solidFill>
              <a:effectLst/>
              <a:uLnTx/>
              <a:uFillTx/>
              <a:latin typeface="Arial" panose="020B0604020202020204"/>
              <a:ea typeface="Open Sans" panose="020B0606030504020204" pitchFamily="34" charset="0"/>
              <a:cs typeface="Open Sans" panose="020B0606030504020204" pitchFamily="34" charset="0"/>
            </a:endParaRPr>
          </a:p>
        </p:txBody>
      </p:sp>
      <p:sp>
        <p:nvSpPr>
          <p:cNvPr id="22" name="Isosceles Triangle 21">
            <a:extLst>
              <a:ext uri="{FF2B5EF4-FFF2-40B4-BE49-F238E27FC236}">
                <a16:creationId xmlns:a16="http://schemas.microsoft.com/office/drawing/2014/main" id="{BBCDADFB-FDE7-4BAB-B490-3FC52028E4B8}"/>
              </a:ext>
            </a:extLst>
          </p:cNvPr>
          <p:cNvSpPr/>
          <p:nvPr/>
        </p:nvSpPr>
        <p:spPr>
          <a:xfrm rot="5400000">
            <a:off x="4700497" y="38492"/>
            <a:ext cx="379051" cy="302067"/>
          </a:xfrm>
          <a:prstGeom prst="triangle">
            <a:avLst>
              <a:gd name="adj" fmla="val 50000"/>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Isosceles Triangle 22">
            <a:extLst>
              <a:ext uri="{FF2B5EF4-FFF2-40B4-BE49-F238E27FC236}">
                <a16:creationId xmlns:a16="http://schemas.microsoft.com/office/drawing/2014/main" id="{0AD9E893-74E5-4DCE-8FE2-3AC5185076FB}"/>
              </a:ext>
            </a:extLst>
          </p:cNvPr>
          <p:cNvSpPr/>
          <p:nvPr/>
        </p:nvSpPr>
        <p:spPr>
          <a:xfrm rot="5400000">
            <a:off x="8165149" y="51653"/>
            <a:ext cx="379048" cy="275634"/>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Isosceles Triangle 23">
            <a:extLst>
              <a:ext uri="{FF2B5EF4-FFF2-40B4-BE49-F238E27FC236}">
                <a16:creationId xmlns:a16="http://schemas.microsoft.com/office/drawing/2014/main" id="{38D09D82-8274-4AE7-8E07-5652D86FCB4E}"/>
              </a:ext>
            </a:extLst>
          </p:cNvPr>
          <p:cNvSpPr/>
          <p:nvPr/>
        </p:nvSpPr>
        <p:spPr>
          <a:xfrm rot="5400000">
            <a:off x="8160914" y="51615"/>
            <a:ext cx="379051" cy="275636"/>
          </a:xfrm>
          <a:prstGeom prst="triangle">
            <a:avLst>
              <a:gd name="adj" fmla="val 50000"/>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D92A3614-2DE9-4A21-8940-99273D01939B}"/>
              </a:ext>
            </a:extLst>
          </p:cNvPr>
          <p:cNvSpPr/>
          <p:nvPr/>
        </p:nvSpPr>
        <p:spPr>
          <a:xfrm>
            <a:off x="-1" y="-15738"/>
            <a:ext cx="8214080" cy="419467"/>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954923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3320</TotalTime>
  <Words>825</Words>
  <Application>Microsoft Office PowerPoint</Application>
  <PresentationFormat>Widescreen</PresentationFormat>
  <Paragraphs>97</Paragraphs>
  <Slides>3</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Arial</vt:lpstr>
      <vt:lpstr>Calibri</vt:lpstr>
      <vt:lpstr>Calibri Light</vt:lpstr>
      <vt:lpstr>Office Theme</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Sadaf Sultan</dc:creator>
  <cp:lastModifiedBy>Xin Yuan Nie Naik</cp:lastModifiedBy>
  <cp:revision>59</cp:revision>
  <dcterms:created xsi:type="dcterms:W3CDTF">2022-01-31T01:38:55Z</dcterms:created>
  <dcterms:modified xsi:type="dcterms:W3CDTF">2022-04-04T05:21:02Z</dcterms:modified>
</cp:coreProperties>
</file>